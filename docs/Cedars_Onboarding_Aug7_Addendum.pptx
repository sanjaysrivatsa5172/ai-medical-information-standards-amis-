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map for Cedars_Onboarding_Aug7.pptx. Slides A-B carry the Ramaswamy evidence and the format-dispute framing; C-D carry NOHARM (teaming RCT + judging architecture); E replaces slide 27 (protocol updates); F sets up the Part V ask. All figures verified against PubMed/Scite Aug 4-5, 2026; Fraile Navarro and NOHARM are preprints and are labeled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open the Part II evidence block with this slide, before Bean et al. Talking points: (1) This is our premise, peer-reviewed, in the highest-profile venue - the deployed consumer product registered a 51.6% emergency undertriage rate under structured testing. (2) The split matters: classical, pattern-complete emergencies were triaged correctly; atypical presentations (DKA, impending respiratory failure) were missed - that is the Key-Features thesis appearing in wild data. (3) Do NOT lead with the DKA example on its own - the Macquarie replication (next slide) triaged DKA correctly 100% of the time via free text; use impending respiratory failure or present the controversy itself. (4) Anchoring was significant only in edge cases - exactly the boundary our scenarios target; supports Change 12 adoption. (5) 43 papers already cite this (~5 months) - the space is moving fast. All numbers verified against PubMed abstract + full text, Aug 4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immediately after slide A. This slide preempts the 'scooped?' question and reframes it: the field has a live methodological controversy - product failure vs. measurement artifact - and neither side can resolve it with their design. Ours can: free-response + deterministic escalation-phrase detection scores what the model says in its own words (what Fraile Navarro says forced choice destroys), the dual register isolates input quality (Ramaswamy's axis), multi-model pinning dissolves the product-vs-model confound, and the interaction arm tests what neither did. Note Bean et al. in the footer - naturalistic format alone does not make consumer triage safe, so the dispute is genuinely open. Both closing lines - 'not on trust alone' and 'valid evaluation requires conditions that reflect actual use' - are arguments for funding this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Part II, after the Goh + Healy slide - this is the 2026 upgrade of that evidence line, from the same research group (Goh/Rodman/Chen). Talking points: (1) The interaction gap is no longer just Goh's n=50 - 101 attendings, randomized crossover, physicians WITH AI still ~24 points below the best model alone. (2) The mechanism is now visible: physicians drop appropriate actions the AI surfaced - that is precisely the 'suggestion adoption failure' metric in our Arm C, and our lay-participant arm asks whether patients do the same thing at 2 a.m. (3) Omission-dominance (&gt;80% of severe errors) is the consultation-side analog of under-triage - supports our asymmetric-harm premise. (4) Construct differs: NOHARM is clinician-facing consultation comprehensiveness; we are consumer disposition safety - landscape slide F makes this explicit. Preprint status flagged on-slide.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Part IV, after the hybrid scoring / three-tier adjudication slide. This is the answer to 'why should we trust the scoring?' and to the model-judging-model objection. Three-layer hierarchy: (1) human harm judgment happens once, upstream, in a reusable rubric - killer items, Delphi gold standard, severity weights, now anchored to RAND/UCLA + WHO definitions with a severity-unanimity rule; (2) the primary endpoint is scored deterministically from the model's own words - no LLM in the loop; (3) the LLM-judge share (~30%) becomes a cross-vendor ensemble with majority vote, and it is accepted only if it agrees with the physician panel at least as well as physicians agree with each other (NOHARM's acceptance logic) AND clears the pre-registered AC1 &gt;= 0.75 threshold - otherwise those components revert to the physician panel. Secondary publishable output: agent-panel vs physician-panel agreement on harm assessment in consumer triage. If asked 'why not let agents judge everything': cite our Phase 1 evaluator disagreement and NOHARM's own human-only harm ratings.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REPLACES slide 27. Three-column status board keeps the governance story honest: what is already adopted (Amendment 1's 11 changes, triggered by Winters + SymptomAI), what is methods-hardening in draft (Addendum A), and what this cycle proposes in response to Ramaswamy / Fraile Navarro / NOHARM. Key asks of the room on the third column: (1) Change 12 adopt/defer - recommendation: adopt; the anchoring evidence is now published, only the note-embedded locus is unexamined, and matched pairs are robust to the format dispute; (2) confirm the agent-judge ensemble validation approach (humans stay sovereign); (3) note Arm C1 stays in scope (multi-turn reality is Fraile Navarro's core real-world argument + SycEval 78.5% persistence). Footer discipline: nothing here is in the IRB submission yet; authors will be told before drafting if Change 12 is adopted.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Part V, before the closing ask - this is the setup for the recruitment and institutional-value close. The three-benchmark framing turns two potentially threatening publications into the map that shows our open slot. Verbal line for the room (not on slide): 'Mount Sinai showed the failure; Macquarie showed the measurement problem; Cedars defines the standard.' If asked about overlap with NOHARM: different construct entirely - clinician-facing consultation comprehensiveness vs consumer disposition safety; their own limitations call for exactly our interaction arm and register manipulation. If asked why now: 43 citations on Ramaswamy in ~5 months, live methodological dispute, and the field standard-setting slot closes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38"/>
        </a:solidFill>
      </p:bgPr>
    </p:bg>
    <p:spTree>
      <p:nvGrpSpPr>
        <p:cNvPr id="1" name=""/>
        <p:cNvGrpSpPr/>
        <p:nvPr/>
      </p:nvGrpSpPr>
      <p:grpSpPr>
        <a:xfrm>
          <a:off x="0" y="0"/>
          <a:ext cx="0" cy="0"/>
          <a:chOff x="0" y="0"/>
          <a:chExt cx="0" cy="0"/>
        </a:xfrm>
      </p:grpSpPr>
      <p:sp>
        <p:nvSpPr>
          <p:cNvPr id="2" name="Text 0"/>
          <p:cNvSpPr/>
          <p:nvPr/>
        </p:nvSpPr>
        <p:spPr>
          <a:xfrm>
            <a:off x="548640" y="685800"/>
            <a:ext cx="11091672" cy="320040"/>
          </a:xfrm>
          <a:prstGeom prst="rect">
            <a:avLst/>
          </a:prstGeom>
          <a:noFill/>
          <a:ln/>
        </p:spPr>
        <p:txBody>
          <a:bodyPr wrap="square" lIns="0" tIns="0" rIns="0" bIns="0" rtlCol="0" anchor="ctr"/>
          <a:lstStyle/>
          <a:p>
            <a:pPr indent="0" marL="0">
              <a:buNone/>
            </a:pPr>
            <a:r>
              <a:rPr lang="en-US" sz="1300" b="1" spc="200" kern="0" dirty="0">
                <a:solidFill>
                  <a:srgbClr val="9FC3E8"/>
                </a:solidFill>
                <a:latin typeface="Calibri" pitchFamily="34" charset="0"/>
                <a:ea typeface="Calibri" pitchFamily="34" charset="-122"/>
                <a:cs typeface="Calibri" pitchFamily="34" charset="-120"/>
              </a:rPr>
              <a:t>CEDARS-SINAI ONBOARDING DECK · AUGUST 7</a:t>
            </a:r>
            <a:endParaRPr lang="en-US" sz="1300" dirty="0"/>
          </a:p>
        </p:txBody>
      </p:sp>
      <p:sp>
        <p:nvSpPr>
          <p:cNvPr id="3" name="Text 1"/>
          <p:cNvSpPr/>
          <p:nvPr/>
        </p:nvSpPr>
        <p:spPr>
          <a:xfrm>
            <a:off x="548640" y="1051560"/>
            <a:ext cx="11091672"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Addendum: Six Insert &amp; Replacement Slides</a:t>
            </a:r>
            <a:endParaRPr lang="en-US" sz="4000" dirty="0"/>
          </a:p>
        </p:txBody>
      </p:sp>
      <p:sp>
        <p:nvSpPr>
          <p:cNvPr id="4" name="Text 2"/>
          <p:cNvSpPr/>
          <p:nvPr/>
        </p:nvSpPr>
        <p:spPr>
          <a:xfrm>
            <a:off x="548640" y="2084832"/>
            <a:ext cx="11091672" cy="457200"/>
          </a:xfrm>
          <a:prstGeom prst="rect">
            <a:avLst/>
          </a:prstGeom>
          <a:noFill/>
          <a:ln/>
        </p:spPr>
        <p:txBody>
          <a:bodyPr wrap="square" lIns="0" tIns="0" rIns="0" bIns="0" rtlCol="0" anchor="ctr"/>
          <a:lstStyle/>
          <a:p>
            <a:pPr indent="0" marL="0">
              <a:buNone/>
            </a:pPr>
            <a:r>
              <a:rPr lang="en-US" sz="1500" i="1" dirty="0">
                <a:solidFill>
                  <a:srgbClr val="C9D9E8"/>
                </a:solidFill>
                <a:latin typeface="Calibri" pitchFamily="34" charset="0"/>
                <a:ea typeface="Calibri" pitchFamily="34" charset="-122"/>
                <a:cs typeface="Calibri" pitchFamily="34" charset="-120"/>
              </a:rPr>
              <a:t>Ramaswamy (Nat Med 2026)  ·  the Fraile Navarro measurement dispute  ·  NOHARM teaming and judging architecture</a:t>
            </a:r>
            <a:endParaRPr lang="en-US" sz="1500" dirty="0"/>
          </a:p>
        </p:txBody>
      </p:sp>
      <p:sp>
        <p:nvSpPr>
          <p:cNvPr id="5" name="Shape 3"/>
          <p:cNvSpPr/>
          <p:nvPr/>
        </p:nvSpPr>
        <p:spPr>
          <a:xfrm>
            <a:off x="548640" y="2816352"/>
            <a:ext cx="384048" cy="384048"/>
          </a:xfrm>
          <a:prstGeom prst="ellipse">
            <a:avLst/>
          </a:prstGeom>
          <a:solidFill>
            <a:srgbClr val="0E7C66"/>
          </a:solidFill>
          <a:ln/>
        </p:spPr>
      </p:sp>
      <p:sp>
        <p:nvSpPr>
          <p:cNvPr id="6" name="Text 4"/>
          <p:cNvSpPr/>
          <p:nvPr/>
        </p:nvSpPr>
        <p:spPr>
          <a:xfrm>
            <a:off x="548640" y="28163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p:nvPr/>
        </p:nvSpPr>
        <p:spPr>
          <a:xfrm>
            <a:off x="1115568" y="2788920"/>
            <a:ext cx="626364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Nature Medicine evidence — the deployed product fails at the extremes</a:t>
            </a:r>
            <a:endParaRPr lang="en-US" sz="1350" dirty="0"/>
          </a:p>
        </p:txBody>
      </p:sp>
      <p:sp>
        <p:nvSpPr>
          <p:cNvPr id="8" name="Text 6"/>
          <p:cNvSpPr/>
          <p:nvPr/>
        </p:nvSpPr>
        <p:spPr>
          <a:xfrm>
            <a:off x="7498080" y="2788920"/>
            <a:ext cx="4142232" cy="457200"/>
          </a:xfrm>
          <a:prstGeom prst="rect">
            <a:avLst/>
          </a:prstGeom>
          <a:noFill/>
          <a:ln/>
        </p:spPr>
        <p:txBody>
          <a:bodyPr wrap="square" lIns="0" tIns="0" rIns="0" bIns="0" rtlCol="0" anchor="ctr"/>
          <a:lstStyle/>
          <a:p>
            <a:pPr indent="0" marL="0">
              <a:buNone/>
            </a:pPr>
            <a:r>
              <a:rPr lang="en-US" sz="1150" dirty="0">
                <a:solidFill>
                  <a:srgbClr val="9FC3E8"/>
                </a:solidFill>
                <a:latin typeface="Calibri" pitchFamily="34" charset="0"/>
                <a:ea typeface="Calibri" pitchFamily="34" charset="-122"/>
                <a:cs typeface="Calibri" pitchFamily="34" charset="-120"/>
              </a:rPr>
              <a:t>Open Part II (evidence): insert BEFORE the Bean et al. slide</a:t>
            </a:r>
            <a:endParaRPr lang="en-US" sz="1150" dirty="0"/>
          </a:p>
        </p:txBody>
      </p:sp>
      <p:sp>
        <p:nvSpPr>
          <p:cNvPr id="9" name="Shape 7"/>
          <p:cNvSpPr/>
          <p:nvPr/>
        </p:nvSpPr>
        <p:spPr>
          <a:xfrm>
            <a:off x="548640" y="3346704"/>
            <a:ext cx="384048" cy="384048"/>
          </a:xfrm>
          <a:prstGeom prst="ellipse">
            <a:avLst/>
          </a:prstGeom>
          <a:solidFill>
            <a:srgbClr val="0E7C66"/>
          </a:solidFill>
          <a:ln/>
        </p:spPr>
      </p:sp>
      <p:sp>
        <p:nvSpPr>
          <p:cNvPr id="10" name="Text 8"/>
          <p:cNvSpPr/>
          <p:nvPr/>
        </p:nvSpPr>
        <p:spPr>
          <a:xfrm>
            <a:off x="548640" y="33467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p:nvPr/>
        </p:nvSpPr>
        <p:spPr>
          <a:xfrm>
            <a:off x="1115568" y="3319272"/>
            <a:ext cx="626364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measurement dispute — this design adjudicates it</a:t>
            </a:r>
            <a:endParaRPr lang="en-US" sz="1350" dirty="0"/>
          </a:p>
        </p:txBody>
      </p:sp>
      <p:sp>
        <p:nvSpPr>
          <p:cNvPr id="12" name="Text 10"/>
          <p:cNvSpPr/>
          <p:nvPr/>
        </p:nvSpPr>
        <p:spPr>
          <a:xfrm>
            <a:off x="7498080" y="3319272"/>
            <a:ext cx="4142232" cy="457200"/>
          </a:xfrm>
          <a:prstGeom prst="rect">
            <a:avLst/>
          </a:prstGeom>
          <a:noFill/>
          <a:ln/>
        </p:spPr>
        <p:txBody>
          <a:bodyPr wrap="square" lIns="0" tIns="0" rIns="0" bIns="0" rtlCol="0" anchor="ctr"/>
          <a:lstStyle/>
          <a:p>
            <a:pPr indent="0" marL="0">
              <a:buNone/>
            </a:pPr>
            <a:r>
              <a:rPr lang="en-US" sz="1150" dirty="0">
                <a:solidFill>
                  <a:srgbClr val="9FC3E8"/>
                </a:solidFill>
                <a:latin typeface="Calibri" pitchFamily="34" charset="0"/>
                <a:ea typeface="Calibri" pitchFamily="34" charset="-122"/>
                <a:cs typeface="Calibri" pitchFamily="34" charset="-120"/>
              </a:rPr>
              <a:t>Insert immediately AFTER slide A</a:t>
            </a:r>
            <a:endParaRPr lang="en-US" sz="1150" dirty="0"/>
          </a:p>
        </p:txBody>
      </p:sp>
      <p:sp>
        <p:nvSpPr>
          <p:cNvPr id="13" name="Shape 11"/>
          <p:cNvSpPr/>
          <p:nvPr/>
        </p:nvSpPr>
        <p:spPr>
          <a:xfrm>
            <a:off x="548640" y="3877056"/>
            <a:ext cx="384048" cy="384048"/>
          </a:xfrm>
          <a:prstGeom prst="ellipse">
            <a:avLst/>
          </a:prstGeom>
          <a:solidFill>
            <a:srgbClr val="0E7C66"/>
          </a:solidFill>
          <a:ln/>
        </p:spPr>
      </p:sp>
      <p:sp>
        <p:nvSpPr>
          <p:cNvPr id="14" name="Text 12"/>
          <p:cNvSpPr/>
          <p:nvPr/>
        </p:nvSpPr>
        <p:spPr>
          <a:xfrm>
            <a:off x="548640" y="38770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p:nvPr/>
        </p:nvSpPr>
        <p:spPr>
          <a:xfrm>
            <a:off x="1115568" y="3849624"/>
            <a:ext cx="626364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Human-AI teaming gap at scale (NOHARM RCT)</a:t>
            </a:r>
            <a:endParaRPr lang="en-US" sz="1350" dirty="0"/>
          </a:p>
        </p:txBody>
      </p:sp>
      <p:sp>
        <p:nvSpPr>
          <p:cNvPr id="16" name="Text 14"/>
          <p:cNvSpPr/>
          <p:nvPr/>
        </p:nvSpPr>
        <p:spPr>
          <a:xfrm>
            <a:off x="7498080" y="3849624"/>
            <a:ext cx="4142232" cy="457200"/>
          </a:xfrm>
          <a:prstGeom prst="rect">
            <a:avLst/>
          </a:prstGeom>
          <a:noFill/>
          <a:ln/>
        </p:spPr>
        <p:txBody>
          <a:bodyPr wrap="square" lIns="0" tIns="0" rIns="0" bIns="0" rtlCol="0" anchor="ctr"/>
          <a:lstStyle/>
          <a:p>
            <a:pPr indent="0" marL="0">
              <a:buNone/>
            </a:pPr>
            <a:r>
              <a:rPr lang="en-US" sz="1150" dirty="0">
                <a:solidFill>
                  <a:srgbClr val="9FC3E8"/>
                </a:solidFill>
                <a:latin typeface="Calibri" pitchFamily="34" charset="0"/>
                <a:ea typeface="Calibri" pitchFamily="34" charset="-122"/>
                <a:cs typeface="Calibri" pitchFamily="34" charset="-120"/>
              </a:rPr>
              <a:t>Part II: insert AFTER the Goh + Healy slide</a:t>
            </a:r>
            <a:endParaRPr lang="en-US" sz="1150" dirty="0"/>
          </a:p>
        </p:txBody>
      </p:sp>
      <p:sp>
        <p:nvSpPr>
          <p:cNvPr id="17" name="Shape 15"/>
          <p:cNvSpPr/>
          <p:nvPr/>
        </p:nvSpPr>
        <p:spPr>
          <a:xfrm>
            <a:off x="548640" y="4407408"/>
            <a:ext cx="384048" cy="384048"/>
          </a:xfrm>
          <a:prstGeom prst="ellipse">
            <a:avLst/>
          </a:prstGeom>
          <a:solidFill>
            <a:srgbClr val="0E7C66"/>
          </a:solidFill>
          <a:ln/>
        </p:spPr>
      </p:sp>
      <p:sp>
        <p:nvSpPr>
          <p:cNvPr id="18" name="Text 16"/>
          <p:cNvSpPr/>
          <p:nvPr/>
        </p:nvSpPr>
        <p:spPr>
          <a:xfrm>
            <a:off x="548640" y="44074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p:nvPr/>
        </p:nvSpPr>
        <p:spPr>
          <a:xfrm>
            <a:off x="1115568" y="4379976"/>
            <a:ext cx="626364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Harm judging: humans set the standard, machines scale it</a:t>
            </a:r>
            <a:endParaRPr lang="en-US" sz="1350" dirty="0"/>
          </a:p>
        </p:txBody>
      </p:sp>
      <p:sp>
        <p:nvSpPr>
          <p:cNvPr id="20" name="Text 18"/>
          <p:cNvSpPr/>
          <p:nvPr/>
        </p:nvSpPr>
        <p:spPr>
          <a:xfrm>
            <a:off x="7498080" y="4379976"/>
            <a:ext cx="4142232" cy="457200"/>
          </a:xfrm>
          <a:prstGeom prst="rect">
            <a:avLst/>
          </a:prstGeom>
          <a:noFill/>
          <a:ln/>
        </p:spPr>
        <p:txBody>
          <a:bodyPr wrap="square" lIns="0" tIns="0" rIns="0" bIns="0" rtlCol="0" anchor="ctr"/>
          <a:lstStyle/>
          <a:p>
            <a:pPr indent="0" marL="0">
              <a:buNone/>
            </a:pPr>
            <a:r>
              <a:rPr lang="en-US" sz="1150" dirty="0">
                <a:solidFill>
                  <a:srgbClr val="9FC3E8"/>
                </a:solidFill>
                <a:latin typeface="Calibri" pitchFamily="34" charset="0"/>
                <a:ea typeface="Calibri" pitchFamily="34" charset="-122"/>
                <a:cs typeface="Calibri" pitchFamily="34" charset="-120"/>
              </a:rPr>
              <a:t>Part IV: insert AFTER the hybrid scoring / 3-tier adjudication slide</a:t>
            </a:r>
            <a:endParaRPr lang="en-US" sz="1150" dirty="0"/>
          </a:p>
        </p:txBody>
      </p:sp>
      <p:sp>
        <p:nvSpPr>
          <p:cNvPr id="21" name="Shape 19"/>
          <p:cNvSpPr/>
          <p:nvPr/>
        </p:nvSpPr>
        <p:spPr>
          <a:xfrm>
            <a:off x="548640" y="4937760"/>
            <a:ext cx="384048" cy="384048"/>
          </a:xfrm>
          <a:prstGeom prst="ellipse">
            <a:avLst/>
          </a:prstGeom>
          <a:solidFill>
            <a:srgbClr val="0E7C66"/>
          </a:solidFill>
          <a:ln/>
        </p:spPr>
      </p:sp>
      <p:sp>
        <p:nvSpPr>
          <p:cNvPr id="22" name="Text 20"/>
          <p:cNvSpPr/>
          <p:nvPr/>
        </p:nvSpPr>
        <p:spPr>
          <a:xfrm>
            <a:off x="548640" y="49377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a:t>
            </a:r>
            <a:endParaRPr lang="en-US" sz="1500" dirty="0"/>
          </a:p>
        </p:txBody>
      </p:sp>
      <p:sp>
        <p:nvSpPr>
          <p:cNvPr id="23" name="Text 21"/>
          <p:cNvSpPr/>
          <p:nvPr/>
        </p:nvSpPr>
        <p:spPr>
          <a:xfrm>
            <a:off x="1115568" y="4910328"/>
            <a:ext cx="626364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Protocol updates — adopted vs. proposed</a:t>
            </a:r>
            <a:endParaRPr lang="en-US" sz="1350" dirty="0"/>
          </a:p>
        </p:txBody>
      </p:sp>
      <p:sp>
        <p:nvSpPr>
          <p:cNvPr id="24" name="Text 22"/>
          <p:cNvSpPr/>
          <p:nvPr/>
        </p:nvSpPr>
        <p:spPr>
          <a:xfrm>
            <a:off x="7498080" y="4910328"/>
            <a:ext cx="4142232" cy="457200"/>
          </a:xfrm>
          <a:prstGeom prst="rect">
            <a:avLst/>
          </a:prstGeom>
          <a:noFill/>
          <a:ln/>
        </p:spPr>
        <p:txBody>
          <a:bodyPr wrap="square" lIns="0" tIns="0" rIns="0" bIns="0" rtlCol="0" anchor="ctr"/>
          <a:lstStyle/>
          <a:p>
            <a:pPr indent="0" marL="0">
              <a:buNone/>
            </a:pPr>
            <a:r>
              <a:rPr lang="en-US" sz="1150" dirty="0">
                <a:solidFill>
                  <a:srgbClr val="9FC3E8"/>
                </a:solidFill>
                <a:latin typeface="Calibri" pitchFamily="34" charset="0"/>
                <a:ea typeface="Calibri" pitchFamily="34" charset="-122"/>
                <a:cs typeface="Calibri" pitchFamily="34" charset="-120"/>
              </a:rPr>
              <a:t>REPLACES current slide 27</a:t>
            </a:r>
            <a:endParaRPr lang="en-US" sz="1150" dirty="0"/>
          </a:p>
        </p:txBody>
      </p:sp>
      <p:sp>
        <p:nvSpPr>
          <p:cNvPr id="25" name="Shape 23"/>
          <p:cNvSpPr/>
          <p:nvPr/>
        </p:nvSpPr>
        <p:spPr>
          <a:xfrm>
            <a:off x="548640" y="5468112"/>
            <a:ext cx="384048" cy="384048"/>
          </a:xfrm>
          <a:prstGeom prst="ellipse">
            <a:avLst/>
          </a:prstGeom>
          <a:solidFill>
            <a:srgbClr val="0E7C66"/>
          </a:solidFill>
          <a:ln/>
        </p:spPr>
      </p:sp>
      <p:sp>
        <p:nvSpPr>
          <p:cNvPr id="26" name="Text 24"/>
          <p:cNvSpPr/>
          <p:nvPr/>
        </p:nvSpPr>
        <p:spPr>
          <a:xfrm>
            <a:off x="548640" y="54681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a:t>
            </a:r>
            <a:endParaRPr lang="en-US" sz="1500" dirty="0"/>
          </a:p>
        </p:txBody>
      </p:sp>
      <p:sp>
        <p:nvSpPr>
          <p:cNvPr id="27" name="Text 25"/>
          <p:cNvSpPr/>
          <p:nvPr/>
        </p:nvSpPr>
        <p:spPr>
          <a:xfrm>
            <a:off x="1115568" y="5440680"/>
            <a:ext cx="626364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2026 benchmark landscape — one slot open</a:t>
            </a:r>
            <a:endParaRPr lang="en-US" sz="1350" dirty="0"/>
          </a:p>
        </p:txBody>
      </p:sp>
      <p:sp>
        <p:nvSpPr>
          <p:cNvPr id="28" name="Text 26"/>
          <p:cNvSpPr/>
          <p:nvPr/>
        </p:nvSpPr>
        <p:spPr>
          <a:xfrm>
            <a:off x="7498080" y="5440680"/>
            <a:ext cx="4142232" cy="457200"/>
          </a:xfrm>
          <a:prstGeom prst="rect">
            <a:avLst/>
          </a:prstGeom>
          <a:noFill/>
          <a:ln/>
        </p:spPr>
        <p:txBody>
          <a:bodyPr wrap="square" lIns="0" tIns="0" rIns="0" bIns="0" rtlCol="0" anchor="ctr"/>
          <a:lstStyle/>
          <a:p>
            <a:pPr indent="0" marL="0">
              <a:buNone/>
            </a:pPr>
            <a:r>
              <a:rPr lang="en-US" sz="1150" dirty="0">
                <a:solidFill>
                  <a:srgbClr val="9FC3E8"/>
                </a:solidFill>
                <a:latin typeface="Calibri" pitchFamily="34" charset="0"/>
                <a:ea typeface="Calibri" pitchFamily="34" charset="-122"/>
                <a:cs typeface="Calibri" pitchFamily="34" charset="-120"/>
              </a:rPr>
              <a:t>Part V: insert BEFORE the closing ask</a:t>
            </a:r>
            <a:endParaRPr lang="en-US" sz="1150" dirty="0"/>
          </a:p>
        </p:txBody>
      </p:sp>
      <p:sp>
        <p:nvSpPr>
          <p:cNvPr id="29" name="Text 27"/>
          <p:cNvSpPr/>
          <p:nvPr/>
        </p:nvSpPr>
        <p:spPr>
          <a:xfrm>
            <a:off x="548640" y="6263640"/>
            <a:ext cx="11091672" cy="365760"/>
          </a:xfrm>
          <a:prstGeom prst="rect">
            <a:avLst/>
          </a:prstGeom>
          <a:noFill/>
          <a:ln/>
        </p:spPr>
        <p:txBody>
          <a:bodyPr wrap="square" lIns="0" tIns="0" rIns="0" bIns="0" rtlCol="0" anchor="ctr"/>
          <a:lstStyle/>
          <a:p>
            <a:pPr indent="0" marL="0">
              <a:buNone/>
            </a:pPr>
            <a:r>
              <a:rPr lang="en-US" sz="1050" dirty="0">
                <a:solidFill>
                  <a:srgbClr val="8AA5BD"/>
                </a:solidFill>
                <a:latin typeface="Calibri" pitchFamily="34" charset="0"/>
                <a:ea typeface="Calibri" pitchFamily="34" charset="-122"/>
                <a:cs typeface="Calibri" pitchFamily="34" charset="-120"/>
              </a:rPr>
              <a:t>Prepared 2026-08-05 for PI review. Speaker notes on every slide. Preprint citations are flagged as such on their slides.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274320"/>
          </a:xfrm>
          <a:prstGeom prst="rect">
            <a:avLst/>
          </a:prstGeom>
          <a:noFill/>
          <a:ln/>
        </p:spPr>
        <p:txBody>
          <a:bodyPr wrap="square" lIns="0" tIns="0" rIns="0" bIns="0" rtlCol="0" anchor="ctr"/>
          <a:lstStyle/>
          <a:p>
            <a:pPr indent="0" marL="0">
              <a:buNone/>
            </a:pPr>
            <a:r>
              <a:rPr lang="en-US" sz="1150" b="1" spc="200" kern="0" dirty="0">
                <a:solidFill>
                  <a:srgbClr val="0E7C66"/>
                </a:solidFill>
                <a:latin typeface="Calibri" pitchFamily="34" charset="0"/>
                <a:ea typeface="Calibri" pitchFamily="34" charset="-122"/>
                <a:cs typeface="Calibri" pitchFamily="34" charset="-120"/>
              </a:rPr>
              <a:t>PART II · EVIDENCE — SLIDE A</a:t>
            </a:r>
            <a:endParaRPr lang="en-US" sz="1150" dirty="0"/>
          </a:p>
        </p:txBody>
      </p:sp>
      <p:sp>
        <p:nvSpPr>
          <p:cNvPr id="3" name="Text 1"/>
          <p:cNvSpPr/>
          <p:nvPr/>
        </p:nvSpPr>
        <p:spPr>
          <a:xfrm>
            <a:off x="548640" y="530352"/>
            <a:ext cx="11091672" cy="914400"/>
          </a:xfrm>
          <a:prstGeom prst="rect">
            <a:avLst/>
          </a:prstGeom>
          <a:noFill/>
          <a:ln/>
        </p:spPr>
        <p:txBody>
          <a:bodyPr wrap="square" lIns="0" tIns="0" rIns="0" bIns="0" rtlCol="0" anchor="t"/>
          <a:lstStyle/>
          <a:p>
            <a:pPr indent="0" marL="0">
              <a:buNone/>
            </a:pPr>
            <a:r>
              <a:rPr lang="en-US" sz="2700" b="1" dirty="0">
                <a:solidFill>
                  <a:srgbClr val="16324F"/>
                </a:solidFill>
                <a:latin typeface="Cambria" pitchFamily="34" charset="0"/>
                <a:ea typeface="Cambria" pitchFamily="34" charset="-122"/>
                <a:cs typeface="Cambria" pitchFamily="34" charset="-120"/>
              </a:rPr>
              <a:t>February 2026, Nature Medicine: the deployed product fails exactly where this trial looks</a:t>
            </a:r>
            <a:endParaRPr lang="en-US" sz="2700" dirty="0"/>
          </a:p>
        </p:txBody>
      </p:sp>
      <p:sp>
        <p:nvSpPr>
          <p:cNvPr id="4" name="Shape 2"/>
          <p:cNvSpPr/>
          <p:nvPr/>
        </p:nvSpPr>
        <p:spPr>
          <a:xfrm>
            <a:off x="548640" y="1600200"/>
            <a:ext cx="3514344" cy="2331720"/>
          </a:xfrm>
          <a:prstGeom prst="roundRect">
            <a:avLst>
              <a:gd name="adj" fmla="val 3137"/>
            </a:avLst>
          </a:prstGeom>
          <a:solidFill>
            <a:srgbClr val="EEF3F8"/>
          </a:solidFill>
          <a:ln w="9525">
            <a:solidFill>
              <a:srgbClr val="D3DEE8"/>
            </a:solidFill>
            <a:prstDash val="solid"/>
          </a:ln>
        </p:spPr>
      </p:sp>
      <p:sp>
        <p:nvSpPr>
          <p:cNvPr id="5" name="Text 3"/>
          <p:cNvSpPr/>
          <p:nvPr/>
        </p:nvSpPr>
        <p:spPr>
          <a:xfrm>
            <a:off x="749808" y="1746504"/>
            <a:ext cx="3112008" cy="868680"/>
          </a:xfrm>
          <a:prstGeom prst="rect">
            <a:avLst/>
          </a:prstGeom>
          <a:noFill/>
          <a:ln/>
        </p:spPr>
        <p:txBody>
          <a:bodyPr wrap="square" lIns="0" tIns="0" rIns="0" bIns="0" rtlCol="0" anchor="ctr"/>
          <a:lstStyle/>
          <a:p>
            <a:pPr indent="0" marL="0">
              <a:buNone/>
            </a:pPr>
            <a:r>
              <a:rPr lang="en-US" sz="4000" b="1" dirty="0">
                <a:solidFill>
                  <a:srgbClr val="B03A2E"/>
                </a:solidFill>
                <a:latin typeface="Cambria" pitchFamily="34" charset="0"/>
                <a:ea typeface="Cambria" pitchFamily="34" charset="-122"/>
                <a:cs typeface="Cambria" pitchFamily="34" charset="-120"/>
              </a:rPr>
              <a:t>51.6%</a:t>
            </a:r>
            <a:endParaRPr lang="en-US" sz="4000" dirty="0"/>
          </a:p>
        </p:txBody>
      </p:sp>
      <p:sp>
        <p:nvSpPr>
          <p:cNvPr id="6" name="Text 4"/>
          <p:cNvSpPr/>
          <p:nvPr/>
        </p:nvSpPr>
        <p:spPr>
          <a:xfrm>
            <a:off x="749808" y="2587752"/>
            <a:ext cx="3112008" cy="566928"/>
          </a:xfrm>
          <a:prstGeom prst="rect">
            <a:avLst/>
          </a:prstGeom>
          <a:noFill/>
          <a:ln/>
        </p:spPr>
        <p:txBody>
          <a:bodyPr wrap="square" lIns="0" tIns="0" rIns="0" bIns="0" rtlCol="0" anchor="ctr"/>
          <a:lstStyle/>
          <a:p>
            <a:pPr indent="0" marL="0">
              <a:buNone/>
            </a:pPr>
            <a:r>
              <a:rPr lang="en-US" sz="1350" b="1" dirty="0">
                <a:solidFill>
                  <a:srgbClr val="1C2833"/>
                </a:solidFill>
                <a:latin typeface="Calibri" pitchFamily="34" charset="0"/>
                <a:ea typeface="Calibri" pitchFamily="34" charset="-122"/>
                <a:cs typeface="Calibri" pitchFamily="34" charset="-120"/>
              </a:rPr>
              <a:t>Gold-standard emergencies undertriaged</a:t>
            </a:r>
            <a:endParaRPr lang="en-US" sz="1350" dirty="0"/>
          </a:p>
        </p:txBody>
      </p:sp>
      <p:sp>
        <p:nvSpPr>
          <p:cNvPr id="7" name="Text 5"/>
          <p:cNvSpPr/>
          <p:nvPr/>
        </p:nvSpPr>
        <p:spPr>
          <a:xfrm>
            <a:off x="749808" y="3136392"/>
            <a:ext cx="3112008" cy="649224"/>
          </a:xfrm>
          <a:prstGeom prst="rect">
            <a:avLst/>
          </a:prstGeom>
          <a:noFill/>
          <a:ln/>
        </p:spPr>
        <p:txBody>
          <a:bodyPr wrap="square" lIns="0" tIns="0" rIns="0" bIns="0" rtlCol="0" anchor="ctr"/>
          <a:lstStyle/>
          <a:p>
            <a:pPr indent="0" marL="0">
              <a:buNone/>
            </a:pPr>
            <a:r>
              <a:rPr lang="en-US" sz="1100" dirty="0">
                <a:solidFill>
                  <a:srgbClr val="5D6D7A"/>
                </a:solidFill>
                <a:latin typeface="Calibri" pitchFamily="34" charset="0"/>
                <a:ea typeface="Calibri" pitchFamily="34" charset="-122"/>
                <a:cs typeface="Calibri" pitchFamily="34" charset="-120"/>
              </a:rPr>
              <a:t>33/64 — e.g., impending respiratory failure sent to 24-48 h evaluation. Classical patterns (stroke, anaphylaxis) triaged correctly.</a:t>
            </a:r>
            <a:endParaRPr lang="en-US" sz="1100" dirty="0"/>
          </a:p>
        </p:txBody>
      </p:sp>
      <p:sp>
        <p:nvSpPr>
          <p:cNvPr id="8" name="Shape 6"/>
          <p:cNvSpPr/>
          <p:nvPr/>
        </p:nvSpPr>
        <p:spPr>
          <a:xfrm>
            <a:off x="4337304" y="1600200"/>
            <a:ext cx="3514344" cy="2331720"/>
          </a:xfrm>
          <a:prstGeom prst="roundRect">
            <a:avLst>
              <a:gd name="adj" fmla="val 3137"/>
            </a:avLst>
          </a:prstGeom>
          <a:solidFill>
            <a:srgbClr val="EEF3F8"/>
          </a:solidFill>
          <a:ln w="9525">
            <a:solidFill>
              <a:srgbClr val="D3DEE8"/>
            </a:solidFill>
            <a:prstDash val="solid"/>
          </a:ln>
        </p:spPr>
      </p:sp>
      <p:sp>
        <p:nvSpPr>
          <p:cNvPr id="9" name="Text 7"/>
          <p:cNvSpPr/>
          <p:nvPr/>
        </p:nvSpPr>
        <p:spPr>
          <a:xfrm>
            <a:off x="4538472" y="1746504"/>
            <a:ext cx="3112008" cy="868680"/>
          </a:xfrm>
          <a:prstGeom prst="rect">
            <a:avLst/>
          </a:prstGeom>
          <a:noFill/>
          <a:ln/>
        </p:spPr>
        <p:txBody>
          <a:bodyPr wrap="square" lIns="0" tIns="0" rIns="0" bIns="0" rtlCol="0" anchor="ctr"/>
          <a:lstStyle/>
          <a:p>
            <a:pPr indent="0" marL="0">
              <a:buNone/>
            </a:pPr>
            <a:r>
              <a:rPr lang="en-US" sz="4000" b="1" dirty="0">
                <a:solidFill>
                  <a:srgbClr val="B03A2E"/>
                </a:solidFill>
                <a:latin typeface="Cambria" pitchFamily="34" charset="0"/>
                <a:ea typeface="Cambria" pitchFamily="34" charset="-122"/>
                <a:cs typeface="Cambria" pitchFamily="34" charset="-120"/>
              </a:rPr>
              <a:t>OR 11.7</a:t>
            </a:r>
            <a:endParaRPr lang="en-US" sz="4000" dirty="0"/>
          </a:p>
        </p:txBody>
      </p:sp>
      <p:sp>
        <p:nvSpPr>
          <p:cNvPr id="10" name="Text 8"/>
          <p:cNvSpPr/>
          <p:nvPr/>
        </p:nvSpPr>
        <p:spPr>
          <a:xfrm>
            <a:off x="4538472" y="2587752"/>
            <a:ext cx="3112008" cy="566928"/>
          </a:xfrm>
          <a:prstGeom prst="rect">
            <a:avLst/>
          </a:prstGeom>
          <a:noFill/>
          <a:ln/>
        </p:spPr>
        <p:txBody>
          <a:bodyPr wrap="square" lIns="0" tIns="0" rIns="0" bIns="0" rtlCol="0" anchor="ctr"/>
          <a:lstStyle/>
          <a:p>
            <a:pPr indent="0" marL="0">
              <a:buNone/>
            </a:pPr>
            <a:r>
              <a:rPr lang="en-US" sz="1350" b="1" dirty="0">
                <a:solidFill>
                  <a:srgbClr val="1C2833"/>
                </a:solidFill>
                <a:latin typeface="Calibri" pitchFamily="34" charset="0"/>
                <a:ea typeface="Calibri" pitchFamily="34" charset="-122"/>
                <a:cs typeface="Calibri" pitchFamily="34" charset="-120"/>
              </a:rPr>
              <a:t>Anchoring when family minimized symptoms</a:t>
            </a:r>
            <a:endParaRPr lang="en-US" sz="1350" dirty="0"/>
          </a:p>
        </p:txBody>
      </p:sp>
      <p:sp>
        <p:nvSpPr>
          <p:cNvPr id="11" name="Text 9"/>
          <p:cNvSpPr/>
          <p:nvPr/>
        </p:nvSpPr>
        <p:spPr>
          <a:xfrm>
            <a:off x="4538472" y="3136392"/>
            <a:ext cx="3112008" cy="649224"/>
          </a:xfrm>
          <a:prstGeom prst="rect">
            <a:avLst/>
          </a:prstGeom>
          <a:noFill/>
          <a:ln/>
        </p:spPr>
        <p:txBody>
          <a:bodyPr wrap="square" lIns="0" tIns="0" rIns="0" bIns="0" rtlCol="0" anchor="ctr"/>
          <a:lstStyle/>
          <a:p>
            <a:pPr indent="0" marL="0">
              <a:buNone/>
            </a:pPr>
            <a:r>
              <a:rPr lang="en-US" sz="1100" dirty="0">
                <a:solidFill>
                  <a:srgbClr val="5D6D7A"/>
                </a:solidFill>
                <a:latin typeface="Calibri" pitchFamily="34" charset="0"/>
                <a:ea typeface="Calibri" pitchFamily="34" charset="-122"/>
                <a:cs typeface="Calibri" pitchFamily="34" charset="-120"/>
              </a:rPr>
              <a:t>Shift toward less-urgent care in edge cases only: 3.3% to 13.3% (95% CI 3.7-36.6; Holm-adj. p &lt; 0.001).</a:t>
            </a:r>
            <a:endParaRPr lang="en-US" sz="1100" dirty="0"/>
          </a:p>
        </p:txBody>
      </p:sp>
      <p:sp>
        <p:nvSpPr>
          <p:cNvPr id="12" name="Shape 10"/>
          <p:cNvSpPr/>
          <p:nvPr/>
        </p:nvSpPr>
        <p:spPr>
          <a:xfrm>
            <a:off x="8125968" y="1600200"/>
            <a:ext cx="3514344" cy="2331720"/>
          </a:xfrm>
          <a:prstGeom prst="roundRect">
            <a:avLst>
              <a:gd name="adj" fmla="val 3137"/>
            </a:avLst>
          </a:prstGeom>
          <a:solidFill>
            <a:srgbClr val="EEF3F8"/>
          </a:solidFill>
          <a:ln w="9525">
            <a:solidFill>
              <a:srgbClr val="D3DEE8"/>
            </a:solidFill>
            <a:prstDash val="solid"/>
          </a:ln>
        </p:spPr>
      </p:sp>
      <p:sp>
        <p:nvSpPr>
          <p:cNvPr id="13" name="Text 11"/>
          <p:cNvSpPr/>
          <p:nvPr/>
        </p:nvSpPr>
        <p:spPr>
          <a:xfrm>
            <a:off x="8327136" y="1746504"/>
            <a:ext cx="3112008" cy="868680"/>
          </a:xfrm>
          <a:prstGeom prst="rect">
            <a:avLst/>
          </a:prstGeom>
          <a:noFill/>
          <a:ln/>
        </p:spPr>
        <p:txBody>
          <a:bodyPr wrap="square" lIns="0" tIns="0" rIns="0" bIns="0" rtlCol="0" anchor="ctr"/>
          <a:lstStyle/>
          <a:p>
            <a:pPr indent="0" marL="0">
              <a:buNone/>
            </a:pPr>
            <a:r>
              <a:rPr lang="en-US" sz="4000" b="1" dirty="0">
                <a:solidFill>
                  <a:srgbClr val="B03A2E"/>
                </a:solidFill>
                <a:latin typeface="Cambria" pitchFamily="34" charset="0"/>
                <a:ea typeface="Cambria" pitchFamily="34" charset="-122"/>
                <a:cs typeface="Cambria" pitchFamily="34" charset="-120"/>
              </a:rPr>
              <a:t>Erratic</a:t>
            </a:r>
            <a:endParaRPr lang="en-US" sz="4000" dirty="0"/>
          </a:p>
        </p:txBody>
      </p:sp>
      <p:sp>
        <p:nvSpPr>
          <p:cNvPr id="14" name="Text 12"/>
          <p:cNvSpPr/>
          <p:nvPr/>
        </p:nvSpPr>
        <p:spPr>
          <a:xfrm>
            <a:off x="8327136" y="2587752"/>
            <a:ext cx="3112008" cy="566928"/>
          </a:xfrm>
          <a:prstGeom prst="rect">
            <a:avLst/>
          </a:prstGeom>
          <a:noFill/>
          <a:ln/>
        </p:spPr>
        <p:txBody>
          <a:bodyPr wrap="square" lIns="0" tIns="0" rIns="0" bIns="0" rtlCol="0" anchor="ctr"/>
          <a:lstStyle/>
          <a:p>
            <a:pPr indent="0" marL="0">
              <a:buNone/>
            </a:pPr>
            <a:r>
              <a:rPr lang="en-US" sz="1350" b="1" dirty="0">
                <a:solidFill>
                  <a:srgbClr val="1C2833"/>
                </a:solidFill>
                <a:latin typeface="Calibri" pitchFamily="34" charset="0"/>
                <a:ea typeface="Calibri" pitchFamily="34" charset="-122"/>
                <a:cs typeface="Calibri" pitchFamily="34" charset="-120"/>
              </a:rPr>
              <a:t>Crisis safeguards fired unpredictably</a:t>
            </a:r>
            <a:endParaRPr lang="en-US" sz="1350" dirty="0"/>
          </a:p>
        </p:txBody>
      </p:sp>
      <p:sp>
        <p:nvSpPr>
          <p:cNvPr id="15" name="Text 13"/>
          <p:cNvSpPr/>
          <p:nvPr/>
        </p:nvSpPr>
        <p:spPr>
          <a:xfrm>
            <a:off x="8327136" y="3136392"/>
            <a:ext cx="3112008" cy="649224"/>
          </a:xfrm>
          <a:prstGeom prst="rect">
            <a:avLst/>
          </a:prstGeom>
          <a:noFill/>
          <a:ln/>
        </p:spPr>
        <p:txBody>
          <a:bodyPr wrap="square" lIns="0" tIns="0" rIns="0" bIns="0" rtlCol="0" anchor="ctr"/>
          <a:lstStyle/>
          <a:p>
            <a:pPr indent="0" marL="0">
              <a:buNone/>
            </a:pPr>
            <a:r>
              <a:rPr lang="en-US" sz="1100" dirty="0">
                <a:solidFill>
                  <a:srgbClr val="5D6D7A"/>
                </a:solidFill>
                <a:latin typeface="Calibri" pitchFamily="34" charset="0"/>
                <a:ea typeface="Calibri" pitchFamily="34" charset="-122"/>
                <a:cs typeface="Calibri" pitchFamily="34" charset="-120"/>
              </a:rPr>
              <a:t>Across suicidal-ideation cases, safeguards activated MORE often when no method was described than when one was.</a:t>
            </a:r>
            <a:endParaRPr lang="en-US" sz="1100" dirty="0"/>
          </a:p>
        </p:txBody>
      </p:sp>
      <p:sp>
        <p:nvSpPr>
          <p:cNvPr id="16" name="Shape 14"/>
          <p:cNvSpPr/>
          <p:nvPr/>
        </p:nvSpPr>
        <p:spPr>
          <a:xfrm>
            <a:off x="548640" y="4160520"/>
            <a:ext cx="11091672" cy="1417320"/>
          </a:xfrm>
          <a:prstGeom prst="roundRect">
            <a:avLst>
              <a:gd name="adj" fmla="val 5161"/>
            </a:avLst>
          </a:prstGeom>
          <a:solidFill>
            <a:srgbClr val="E4EDF5"/>
          </a:solidFill>
          <a:ln/>
        </p:spPr>
      </p:sp>
      <p:sp>
        <p:nvSpPr>
          <p:cNvPr id="17" name="Text 15"/>
          <p:cNvSpPr/>
          <p:nvPr/>
        </p:nvSpPr>
        <p:spPr>
          <a:xfrm>
            <a:off x="777240" y="4315968"/>
            <a:ext cx="10634472" cy="1143000"/>
          </a:xfrm>
          <a:prstGeom prst="rect">
            <a:avLst/>
          </a:prstGeom>
          <a:noFill/>
          <a:ln/>
        </p:spPr>
        <p:txBody>
          <a:bodyPr wrap="square" lIns="0" tIns="0" rIns="0" bIns="0" rtlCol="0" anchor="t"/>
          <a:lstStyle/>
          <a:p>
            <a:pPr indent="0" marL="0">
              <a:buNone/>
            </a:pPr>
            <a:r>
              <a:rPr lang="en-US" sz="1250" b="1" dirty="0">
                <a:solidFill>
                  <a:srgbClr val="16324F"/>
                </a:solidFill>
                <a:latin typeface="Calibri" pitchFamily="34" charset="0"/>
                <a:ea typeface="Calibri" pitchFamily="34" charset="-122"/>
                <a:cs typeface="Calibri" pitchFamily="34" charset="-120"/>
              </a:rPr>
              <a:t>Why it matters here:  </a:t>
            </a:r>
            <a:pPr indent="0" marL="0">
              <a:buNone/>
            </a:pPr>
            <a:r>
              <a:rPr lang="en-US" sz="1250" dirty="0">
                <a:solidFill>
                  <a:srgbClr val="1C2833"/>
                </a:solidFill>
                <a:latin typeface="Calibri" pitchFamily="34" charset="0"/>
                <a:ea typeface="Calibri" pitchFamily="34" charset="-122"/>
                <a:cs typeface="Calibri" pitchFamily="34" charset="-120"/>
              </a:rPr>
              <a:t>the inverted-U failure pattern (48% at the emergency extreme, 35% at the nonurgent extreme) is the disposition-failure phenotype this protocol measures — and the misses concentrate on atypical, pattern-incomplete presentations, exactly where our key features and killer items live. Figures were obtained under constrained forced-choice testing of the live product (gpt-5-mini backbone, Jan 9-11, 2026) — see next slide for the dispute over that method.</a:t>
            </a:r>
            <a:endParaRPr lang="en-US" sz="1250" dirty="0"/>
          </a:p>
        </p:txBody>
      </p:sp>
      <p:sp>
        <p:nvSpPr>
          <p:cNvPr id="18" name="Text 16"/>
          <p:cNvSpPr/>
          <p:nvPr/>
        </p:nvSpPr>
        <p:spPr>
          <a:xfrm>
            <a:off x="548640" y="6419088"/>
            <a:ext cx="11091672" cy="310896"/>
          </a:xfrm>
          <a:prstGeom prst="rect">
            <a:avLst/>
          </a:prstGeom>
          <a:noFill/>
          <a:ln/>
        </p:spPr>
        <p:txBody>
          <a:bodyPr wrap="square" lIns="0" tIns="0" rIns="0" bIns="0" rtlCol="0" anchor="ctr"/>
          <a:lstStyle/>
          <a:p>
            <a:pPr indent="0" marL="0">
              <a:buNone/>
            </a:pPr>
            <a:r>
              <a:rPr lang="en-US" sz="950" dirty="0">
                <a:solidFill>
                  <a:srgbClr val="5D6D7A"/>
                </a:solidFill>
                <a:latin typeface="Calibri" pitchFamily="34" charset="0"/>
                <a:ea typeface="Calibri" pitchFamily="34" charset="-122"/>
                <a:cs typeface="Calibri" pitchFamily="34" charset="-120"/>
              </a:rPr>
              <a:t>Ramaswamy A, et al. ChatGPT Health performance in a structured test of triage recommendations. Nat Med 2026;32(5):1671-75. Single product, single timepoint, one response per condition cell, no physician comparator arm.</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274320"/>
          </a:xfrm>
          <a:prstGeom prst="rect">
            <a:avLst/>
          </a:prstGeom>
          <a:noFill/>
          <a:ln/>
        </p:spPr>
        <p:txBody>
          <a:bodyPr wrap="square" lIns="0" tIns="0" rIns="0" bIns="0" rtlCol="0" anchor="ctr"/>
          <a:lstStyle/>
          <a:p>
            <a:pPr indent="0" marL="0">
              <a:buNone/>
            </a:pPr>
            <a:r>
              <a:rPr lang="en-US" sz="1150" b="1" spc="200" kern="0" dirty="0">
                <a:solidFill>
                  <a:srgbClr val="0E7C66"/>
                </a:solidFill>
                <a:latin typeface="Calibri" pitchFamily="34" charset="0"/>
                <a:ea typeface="Calibri" pitchFamily="34" charset="-122"/>
                <a:cs typeface="Calibri" pitchFamily="34" charset="-120"/>
              </a:rPr>
              <a:t>PART II · EVIDENCE — SLIDE B</a:t>
            </a:r>
            <a:endParaRPr lang="en-US" sz="1150" dirty="0"/>
          </a:p>
        </p:txBody>
      </p:sp>
      <p:sp>
        <p:nvSpPr>
          <p:cNvPr id="3" name="Text 1"/>
          <p:cNvSpPr/>
          <p:nvPr/>
        </p:nvSpPr>
        <p:spPr>
          <a:xfrm>
            <a:off x="548640" y="530352"/>
            <a:ext cx="11091672" cy="914400"/>
          </a:xfrm>
          <a:prstGeom prst="rect">
            <a:avLst/>
          </a:prstGeom>
          <a:noFill/>
          <a:ln/>
        </p:spPr>
        <p:txBody>
          <a:bodyPr wrap="square" lIns="0" tIns="0" rIns="0" bIns="0" rtlCol="0" anchor="t"/>
          <a:lstStyle/>
          <a:p>
            <a:pPr indent="0" marL="0">
              <a:buNone/>
            </a:pPr>
            <a:r>
              <a:rPr lang="en-US" sz="2700" b="1" dirty="0">
                <a:solidFill>
                  <a:srgbClr val="16324F"/>
                </a:solidFill>
                <a:latin typeface="Cambria" pitchFamily="34" charset="0"/>
                <a:ea typeface="Cambria" pitchFamily="34" charset="-122"/>
                <a:cs typeface="Cambria" pitchFamily="34" charset="-120"/>
              </a:rPr>
              <a:t>The field is now arguing about how to measure. This design is the answer both sides call for.</a:t>
            </a:r>
            <a:endParaRPr lang="en-US" sz="2700" dirty="0"/>
          </a:p>
        </p:txBody>
      </p:sp>
      <p:sp>
        <p:nvSpPr>
          <p:cNvPr id="4" name="Shape 2"/>
          <p:cNvSpPr/>
          <p:nvPr/>
        </p:nvSpPr>
        <p:spPr>
          <a:xfrm>
            <a:off x="548640" y="1554480"/>
            <a:ext cx="5362956" cy="3017520"/>
          </a:xfrm>
          <a:prstGeom prst="roundRect">
            <a:avLst>
              <a:gd name="adj" fmla="val 2424"/>
            </a:avLst>
          </a:prstGeom>
          <a:solidFill>
            <a:srgbClr val="F6E7E4"/>
          </a:solidFill>
          <a:ln w="9525">
            <a:solidFill>
              <a:srgbClr val="E0C4BF"/>
            </a:solidFill>
            <a:prstDash val="solid"/>
          </a:ln>
        </p:spPr>
      </p:sp>
      <p:sp>
        <p:nvSpPr>
          <p:cNvPr id="5" name="Text 3"/>
          <p:cNvSpPr/>
          <p:nvPr/>
        </p:nvSpPr>
        <p:spPr>
          <a:xfrm>
            <a:off x="777240" y="1700784"/>
            <a:ext cx="4905756" cy="320040"/>
          </a:xfrm>
          <a:prstGeom prst="rect">
            <a:avLst/>
          </a:prstGeom>
          <a:noFill/>
          <a:ln/>
        </p:spPr>
        <p:txBody>
          <a:bodyPr wrap="square" lIns="0" tIns="0" rIns="0" bIns="0" rtlCol="0" anchor="ctr"/>
          <a:lstStyle/>
          <a:p>
            <a:pPr indent="0" marL="0">
              <a:buNone/>
            </a:pPr>
            <a:r>
              <a:rPr lang="en-US" sz="1600" b="1" dirty="0">
                <a:solidFill>
                  <a:srgbClr val="B03A2E"/>
                </a:solidFill>
                <a:latin typeface="Cambria" pitchFamily="34" charset="0"/>
                <a:ea typeface="Cambria" pitchFamily="34" charset="-122"/>
                <a:cs typeface="Cambria" pitchFamily="34" charset="-120"/>
              </a:rPr>
              <a:t>Product-level failure</a:t>
            </a:r>
            <a:endParaRPr lang="en-US" sz="1600" dirty="0"/>
          </a:p>
        </p:txBody>
      </p:sp>
      <p:sp>
        <p:nvSpPr>
          <p:cNvPr id="6" name="Text 4"/>
          <p:cNvSpPr/>
          <p:nvPr/>
        </p:nvSpPr>
        <p:spPr>
          <a:xfrm>
            <a:off x="777240" y="2029968"/>
            <a:ext cx="4905756" cy="274320"/>
          </a:xfrm>
          <a:prstGeom prst="rect">
            <a:avLst/>
          </a:prstGeom>
          <a:noFill/>
          <a:ln/>
        </p:spPr>
        <p:txBody>
          <a:bodyPr wrap="square" lIns="0" tIns="0" rIns="0" bIns="0" rtlCol="0" anchor="ctr"/>
          <a:lstStyle/>
          <a:p>
            <a:pPr indent="0" marL="0">
              <a:buNone/>
            </a:pPr>
            <a:r>
              <a:rPr lang="en-US" sz="1100" i="1" dirty="0">
                <a:solidFill>
                  <a:srgbClr val="5D6D7A"/>
                </a:solidFill>
                <a:latin typeface="Calibri" pitchFamily="34" charset="0"/>
                <a:ea typeface="Calibri" pitchFamily="34" charset="-122"/>
                <a:cs typeface="Calibri" pitchFamily="34" charset="-120"/>
              </a:rPr>
              <a:t>Ramaswamy et al. — Nature Medicine (peer-reviewed)</a:t>
            </a:r>
            <a:endParaRPr lang="en-US" sz="1100" dirty="0"/>
          </a:p>
        </p:txBody>
      </p:sp>
      <p:sp>
        <p:nvSpPr>
          <p:cNvPr id="7" name="Text 5"/>
          <p:cNvSpPr/>
          <p:nvPr/>
        </p:nvSpPr>
        <p:spPr>
          <a:xfrm>
            <a:off x="777240" y="2377440"/>
            <a:ext cx="4905756" cy="2103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2833"/>
                </a:solidFill>
                <a:latin typeface="Calibri" pitchFamily="34" charset="0"/>
                <a:ea typeface="Calibri" pitchFamily="34" charset="-122"/>
                <a:cs typeface="Calibri" pitchFamily="34" charset="-120"/>
              </a:rPr>
              <a:t>Tested the actual ChatGPT Health product on its live interface</a:t>
            </a:r>
            <a:endParaRPr lang="en-US" sz="1200" dirty="0"/>
          </a:p>
          <a:p>
            <a:pPr marL="342900" indent="-342900">
              <a:spcAft>
                <a:spcPts val="600"/>
              </a:spcAft>
              <a:buSzPct val="100000"/>
              <a:buChar char="•"/>
            </a:pPr>
            <a:r>
              <a:rPr lang="en-US" sz="1200" dirty="0">
                <a:solidFill>
                  <a:srgbClr val="1C2833"/>
                </a:solidFill>
                <a:latin typeface="Calibri" pitchFamily="34" charset="0"/>
                <a:ea typeface="Calibri" pitchFamily="34" charset="-122"/>
                <a:cs typeface="Calibri" pitchFamily="34" charset="-120"/>
              </a:rPr>
              <a:t>51.6% of gold-standard emergencies undertriaged</a:t>
            </a:r>
            <a:endParaRPr lang="en-US" sz="1200" dirty="0"/>
          </a:p>
          <a:p>
            <a:pPr marL="342900" indent="-342900">
              <a:spcAft>
                <a:spcPts val="600"/>
              </a:spcAft>
              <a:buSzPct val="100000"/>
              <a:buChar char="•"/>
            </a:pPr>
            <a:r>
              <a:rPr lang="en-US" sz="1200" dirty="0">
                <a:solidFill>
                  <a:srgbClr val="1C2833"/>
                </a:solidFill>
                <a:latin typeface="Calibri" pitchFamily="34" charset="0"/>
                <a:ea typeface="Calibri" pitchFamily="34" charset="-122"/>
                <a:cs typeface="Calibri" pitchFamily="34" charset="-120"/>
              </a:rPr>
              <a:t>Rebuttal to critics: clean vignettes are a conservative test — real consumers under-report and misapply advice</a:t>
            </a:r>
            <a:endParaRPr lang="en-US" sz="1200" dirty="0"/>
          </a:p>
          <a:p>
            <a:pPr marL="342900" indent="-342900">
              <a:buSzPct val="100000"/>
              <a:buChar char="•"/>
            </a:pPr>
            <a:r>
              <a:rPr lang="en-US" sz="1200" i="1" dirty="0">
                <a:solidFill>
                  <a:srgbClr val="1C2833"/>
                </a:solidFill>
                <a:latin typeface="Calibri" pitchFamily="34" charset="0"/>
                <a:ea typeface="Calibri" pitchFamily="34" charset="-122"/>
                <a:cs typeface="Calibri" pitchFamily="34" charset="-120"/>
              </a:rPr>
              <a:t>“Should not be deployed on trust alone”</a:t>
            </a:r>
            <a:endParaRPr lang="en-US" sz="1200" dirty="0"/>
          </a:p>
        </p:txBody>
      </p:sp>
      <p:sp>
        <p:nvSpPr>
          <p:cNvPr id="8" name="Shape 6"/>
          <p:cNvSpPr/>
          <p:nvPr/>
        </p:nvSpPr>
        <p:spPr>
          <a:xfrm>
            <a:off x="6277356" y="1554480"/>
            <a:ext cx="5362956" cy="3017520"/>
          </a:xfrm>
          <a:prstGeom prst="roundRect">
            <a:avLst>
              <a:gd name="adj" fmla="val 2424"/>
            </a:avLst>
          </a:prstGeom>
          <a:solidFill>
            <a:srgbClr val="EEF3F8"/>
          </a:solidFill>
          <a:ln w="9525">
            <a:solidFill>
              <a:srgbClr val="D3DEE8"/>
            </a:solidFill>
            <a:prstDash val="solid"/>
          </a:ln>
        </p:spPr>
      </p:sp>
      <p:sp>
        <p:nvSpPr>
          <p:cNvPr id="9" name="Text 7"/>
          <p:cNvSpPr/>
          <p:nvPr/>
        </p:nvSpPr>
        <p:spPr>
          <a:xfrm>
            <a:off x="6505956" y="1700784"/>
            <a:ext cx="4905756" cy="320040"/>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Evaluation-format artifact</a:t>
            </a:r>
            <a:endParaRPr lang="en-US" sz="1600" dirty="0"/>
          </a:p>
        </p:txBody>
      </p:sp>
      <p:sp>
        <p:nvSpPr>
          <p:cNvPr id="10" name="Text 8"/>
          <p:cNvSpPr/>
          <p:nvPr/>
        </p:nvSpPr>
        <p:spPr>
          <a:xfrm>
            <a:off x="6505956" y="2029968"/>
            <a:ext cx="4905756" cy="274320"/>
          </a:xfrm>
          <a:prstGeom prst="rect">
            <a:avLst/>
          </a:prstGeom>
          <a:noFill/>
          <a:ln/>
        </p:spPr>
        <p:txBody>
          <a:bodyPr wrap="square" lIns="0" tIns="0" rIns="0" bIns="0" rtlCol="0" anchor="ctr"/>
          <a:lstStyle/>
          <a:p>
            <a:pPr indent="0" marL="0">
              <a:buNone/>
            </a:pPr>
            <a:r>
              <a:rPr lang="en-US" sz="1100" i="1" dirty="0">
                <a:solidFill>
                  <a:srgbClr val="5D6D7A"/>
                </a:solidFill>
                <a:latin typeface="Calibri" pitchFamily="34" charset="0"/>
                <a:ea typeface="Calibri" pitchFamily="34" charset="-122"/>
                <a:cs typeface="Calibri" pitchFamily="34" charset="-120"/>
              </a:rPr>
              <a:t>Fraile Navarro, Magrabi &amp; Coiera — Macquarie (arXiv preprint)</a:t>
            </a:r>
            <a:endParaRPr lang="en-US" sz="1100" dirty="0"/>
          </a:p>
        </p:txBody>
      </p:sp>
      <p:sp>
        <p:nvSpPr>
          <p:cNvPr id="11" name="Text 9"/>
          <p:cNvSpPr/>
          <p:nvPr/>
        </p:nvSpPr>
        <p:spPr>
          <a:xfrm>
            <a:off x="6505956" y="2377440"/>
            <a:ext cx="4905756" cy="2103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C2833"/>
                </a:solidFill>
                <a:latin typeface="Calibri" pitchFamily="34" charset="0"/>
                <a:ea typeface="Calibri" pitchFamily="34" charset="-122"/>
                <a:cs typeface="Calibri" pitchFamily="34" charset="-120"/>
              </a:rPr>
              <a:t>Forced A/B/C/D output manufactured much of the failure: 3 models scored 0-24% forced-choice vs 100% free-text on matched scenarios</a:t>
            </a:r>
            <a:endParaRPr lang="en-US" sz="1200" dirty="0"/>
          </a:p>
          <a:p>
            <a:pPr marL="342900" indent="-342900">
              <a:spcAft>
                <a:spcPts val="600"/>
              </a:spcAft>
              <a:buSzPct val="100000"/>
              <a:buChar char="•"/>
            </a:pPr>
            <a:r>
              <a:rPr lang="en-US" sz="1200" dirty="0">
                <a:solidFill>
                  <a:srgbClr val="1C2833"/>
                </a:solidFill>
                <a:latin typeface="Calibri" pitchFamily="34" charset="0"/>
                <a:ea typeface="Calibri" pitchFamily="34" charset="-122"/>
                <a:cs typeface="Calibri" pitchFamily="34" charset="-120"/>
              </a:rPr>
              <a:t>Models recommended the ED in their own words; naturalistic messages improved accuracy +6.4 pp (p = 0.015); DKA 100% correct</a:t>
            </a:r>
            <a:endParaRPr lang="en-US" sz="1200" dirty="0"/>
          </a:p>
          <a:p>
            <a:pPr marL="342900" indent="-342900">
              <a:buSzPct val="100000"/>
              <a:buChar char="•"/>
            </a:pPr>
            <a:r>
              <a:rPr lang="en-US" sz="1200" dirty="0">
                <a:solidFill>
                  <a:srgbClr val="1C2833"/>
                </a:solidFill>
                <a:latin typeface="Calibri" pitchFamily="34" charset="0"/>
                <a:ea typeface="Calibri" pitchFamily="34" charset="-122"/>
                <a:cs typeface="Calibri" pitchFamily="34" charset="-120"/>
              </a:rPr>
              <a:t>Caveat: tested newer API models, not the product — format and capability are confounded</a:t>
            </a:r>
            <a:endParaRPr lang="en-US" sz="1200" dirty="0"/>
          </a:p>
        </p:txBody>
      </p:sp>
      <p:sp>
        <p:nvSpPr>
          <p:cNvPr id="12" name="Shape 10"/>
          <p:cNvSpPr/>
          <p:nvPr/>
        </p:nvSpPr>
        <p:spPr>
          <a:xfrm>
            <a:off x="548640" y="4800600"/>
            <a:ext cx="11091672" cy="1371600"/>
          </a:xfrm>
          <a:prstGeom prst="roundRect">
            <a:avLst>
              <a:gd name="adj" fmla="val 5333"/>
            </a:avLst>
          </a:prstGeom>
          <a:solidFill>
            <a:srgbClr val="0E7C66"/>
          </a:solidFill>
          <a:ln/>
        </p:spPr>
      </p:sp>
      <p:sp>
        <p:nvSpPr>
          <p:cNvPr id="13" name="Text 11"/>
          <p:cNvSpPr/>
          <p:nvPr/>
        </p:nvSpPr>
        <p:spPr>
          <a:xfrm>
            <a:off x="822960" y="4956048"/>
            <a:ext cx="10543032" cy="3200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Every axis of the dispute is a designed factor of this study</a:t>
            </a:r>
            <a:endParaRPr lang="en-US" sz="1550" dirty="0"/>
          </a:p>
        </p:txBody>
      </p:sp>
      <p:sp>
        <p:nvSpPr>
          <p:cNvPr id="14" name="Text 12"/>
          <p:cNvSpPr/>
          <p:nvPr/>
        </p:nvSpPr>
        <p:spPr>
          <a:xfrm>
            <a:off x="822960" y="5321808"/>
            <a:ext cx="10543032" cy="731520"/>
          </a:xfrm>
          <a:prstGeom prst="rect">
            <a:avLst/>
          </a:prstGeom>
          <a:noFill/>
          <a:ln/>
        </p:spPr>
        <p:txBody>
          <a:bodyPr wrap="square" lIns="0" tIns="0" rIns="0" bIns="0" rtlCol="0" anchor="t"/>
          <a:lstStyle/>
          <a:p>
            <a:pPr indent="0" marL="0">
              <a:buNone/>
            </a:pPr>
            <a:r>
              <a:rPr lang="en-US" sz="1200" dirty="0">
                <a:solidFill>
                  <a:srgbClr val="DFF0EA"/>
                </a:solidFill>
                <a:latin typeface="Calibri" pitchFamily="34" charset="0"/>
                <a:ea typeface="Calibri" pitchFamily="34" charset="-122"/>
                <a:cs typeface="Calibri" pitchFamily="34" charset="-120"/>
              </a:rPr>
              <a:t>Free-response answers, escalation detected deterministically from the model's own words  ·  dual lay/expert register  ·  multi-model, version-pinned, triplicate runs  ·  independent EM-physician benchmark  ·  severity-weighted scoring  ·  human-LLM interaction arm</a:t>
            </a:r>
            <a:endParaRPr lang="en-US" sz="1200" dirty="0"/>
          </a:p>
        </p:txBody>
      </p:sp>
      <p:sp>
        <p:nvSpPr>
          <p:cNvPr id="15" name="Text 13"/>
          <p:cNvSpPr/>
          <p:nvPr/>
        </p:nvSpPr>
        <p:spPr>
          <a:xfrm>
            <a:off x="548640" y="6419088"/>
            <a:ext cx="11091672" cy="310896"/>
          </a:xfrm>
          <a:prstGeom prst="rect">
            <a:avLst/>
          </a:prstGeom>
          <a:noFill/>
          <a:ln/>
        </p:spPr>
        <p:txBody>
          <a:bodyPr wrap="square" lIns="0" tIns="0" rIns="0" bIns="0" rtlCol="0" anchor="ctr"/>
          <a:lstStyle/>
          <a:p>
            <a:pPr indent="0" marL="0">
              <a:buNone/>
            </a:pPr>
            <a:r>
              <a:rPr lang="en-US" sz="950" dirty="0">
                <a:solidFill>
                  <a:srgbClr val="5D6D7A"/>
                </a:solidFill>
                <a:latin typeface="Calibri" pitchFamily="34" charset="0"/>
                <a:ea typeface="Calibri" pitchFamily="34" charset="-122"/>
                <a:cs typeface="Calibri" pitchFamily="34" charset="-120"/>
              </a:rPr>
              <a:t>Fraile Navarro D, et al. arXiv 2603.11413 (preprint, not peer-reviewed; 17-of-60-scenario partial replication). Bean et al. (Nat Med 2026) keeps naturalistic optimism honest: lay users below 44.2% disposition accuracy in an RCT.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274320"/>
          </a:xfrm>
          <a:prstGeom prst="rect">
            <a:avLst/>
          </a:prstGeom>
          <a:noFill/>
          <a:ln/>
        </p:spPr>
        <p:txBody>
          <a:bodyPr wrap="square" lIns="0" tIns="0" rIns="0" bIns="0" rtlCol="0" anchor="ctr"/>
          <a:lstStyle/>
          <a:p>
            <a:pPr indent="0" marL="0">
              <a:buNone/>
            </a:pPr>
            <a:r>
              <a:rPr lang="en-US" sz="1150" b="1" spc="200" kern="0" dirty="0">
                <a:solidFill>
                  <a:srgbClr val="0E7C66"/>
                </a:solidFill>
                <a:latin typeface="Calibri" pitchFamily="34" charset="0"/>
                <a:ea typeface="Calibri" pitchFamily="34" charset="-122"/>
                <a:cs typeface="Calibri" pitchFamily="34" charset="-120"/>
              </a:rPr>
              <a:t>PART II · EVIDENCE — SLIDE C</a:t>
            </a:r>
            <a:endParaRPr lang="en-US" sz="1150" dirty="0"/>
          </a:p>
        </p:txBody>
      </p:sp>
      <p:sp>
        <p:nvSpPr>
          <p:cNvPr id="3" name="Text 1"/>
          <p:cNvSpPr/>
          <p:nvPr/>
        </p:nvSpPr>
        <p:spPr>
          <a:xfrm>
            <a:off x="548640" y="530352"/>
            <a:ext cx="11091672" cy="914400"/>
          </a:xfrm>
          <a:prstGeom prst="rect">
            <a:avLst/>
          </a:prstGeom>
          <a:noFill/>
          <a:ln/>
        </p:spPr>
        <p:txBody>
          <a:bodyPr wrap="square" lIns="0" tIns="0" rIns="0" bIns="0" rtlCol="0" anchor="t"/>
          <a:lstStyle/>
          <a:p>
            <a:pPr indent="0" marL="0">
              <a:buNone/>
            </a:pPr>
            <a:r>
              <a:rPr lang="en-US" sz="2700" b="1" dirty="0">
                <a:solidFill>
                  <a:srgbClr val="16324F"/>
                </a:solidFill>
                <a:latin typeface="Cambria" pitchFamily="34" charset="0"/>
                <a:ea typeface="Cambria" pitchFamily="34" charset="-122"/>
                <a:cs typeface="Cambria" pitchFamily="34" charset="-120"/>
              </a:rPr>
              <a:t>The human–AI gap, now measured at scale: the NOHARM randomized study</a:t>
            </a:r>
            <a:endParaRPr lang="en-US" sz="2700" dirty="0"/>
          </a:p>
        </p:txBody>
      </p:sp>
      <p:sp>
        <p:nvSpPr>
          <p:cNvPr id="4" name="Shape 2"/>
          <p:cNvSpPr/>
          <p:nvPr/>
        </p:nvSpPr>
        <p:spPr>
          <a:xfrm>
            <a:off x="548640" y="1600200"/>
            <a:ext cx="2567178" cy="2468880"/>
          </a:xfrm>
          <a:prstGeom prst="roundRect">
            <a:avLst>
              <a:gd name="adj" fmla="val 2963"/>
            </a:avLst>
          </a:prstGeom>
          <a:solidFill>
            <a:srgbClr val="EEF3F8"/>
          </a:solidFill>
          <a:ln w="9525">
            <a:solidFill>
              <a:srgbClr val="D3DEE8"/>
            </a:solidFill>
            <a:prstDash val="solid"/>
          </a:ln>
        </p:spPr>
      </p:sp>
      <p:sp>
        <p:nvSpPr>
          <p:cNvPr id="5" name="Text 3"/>
          <p:cNvSpPr/>
          <p:nvPr/>
        </p:nvSpPr>
        <p:spPr>
          <a:xfrm>
            <a:off x="749808" y="1746504"/>
            <a:ext cx="2164842" cy="868680"/>
          </a:xfrm>
          <a:prstGeom prst="rect">
            <a:avLst/>
          </a:prstGeom>
          <a:noFill/>
          <a:ln/>
        </p:spPr>
        <p:txBody>
          <a:bodyPr wrap="square" lIns="0" tIns="0" rIns="0" bIns="0" rtlCol="0" anchor="ctr"/>
          <a:lstStyle/>
          <a:p>
            <a:pPr indent="0" marL="0">
              <a:buNone/>
            </a:pPr>
            <a:r>
              <a:rPr lang="en-US" sz="4000" b="1" dirty="0">
                <a:solidFill>
                  <a:srgbClr val="16324F"/>
                </a:solidFill>
                <a:latin typeface="Cambria" pitchFamily="34" charset="0"/>
                <a:ea typeface="Cambria" pitchFamily="34" charset="-122"/>
                <a:cs typeface="Cambria" pitchFamily="34" charset="-120"/>
              </a:rPr>
              <a:t>47.3%</a:t>
            </a:r>
            <a:endParaRPr lang="en-US" sz="4000" dirty="0"/>
          </a:p>
        </p:txBody>
      </p:sp>
      <p:sp>
        <p:nvSpPr>
          <p:cNvPr id="6" name="Text 4"/>
          <p:cNvSpPr/>
          <p:nvPr/>
        </p:nvSpPr>
        <p:spPr>
          <a:xfrm>
            <a:off x="749808" y="2587752"/>
            <a:ext cx="2164842" cy="566928"/>
          </a:xfrm>
          <a:prstGeom prst="rect">
            <a:avLst/>
          </a:prstGeom>
          <a:noFill/>
          <a:ln/>
        </p:spPr>
        <p:txBody>
          <a:bodyPr wrap="square" lIns="0" tIns="0" rIns="0" bIns="0" rtlCol="0" anchor="ctr"/>
          <a:lstStyle/>
          <a:p>
            <a:pPr indent="0" marL="0">
              <a:buNone/>
            </a:pPr>
            <a:r>
              <a:rPr lang="en-US" sz="1350" b="1" dirty="0">
                <a:solidFill>
                  <a:srgbClr val="1C2833"/>
                </a:solidFill>
                <a:latin typeface="Calibri" pitchFamily="34" charset="0"/>
                <a:ea typeface="Calibri" pitchFamily="34" charset="-122"/>
                <a:cs typeface="Calibri" pitchFamily="34" charset="-120"/>
              </a:rPr>
              <a:t>AI-assisted physicians</a:t>
            </a:r>
            <a:endParaRPr lang="en-US" sz="1350" dirty="0"/>
          </a:p>
        </p:txBody>
      </p:sp>
      <p:sp>
        <p:nvSpPr>
          <p:cNvPr id="7" name="Text 5"/>
          <p:cNvSpPr/>
          <p:nvPr/>
        </p:nvSpPr>
        <p:spPr>
          <a:xfrm>
            <a:off x="749808" y="3136392"/>
            <a:ext cx="2164842" cy="786384"/>
          </a:xfrm>
          <a:prstGeom prst="rect">
            <a:avLst/>
          </a:prstGeom>
          <a:noFill/>
          <a:ln/>
        </p:spPr>
        <p:txBody>
          <a:bodyPr wrap="square" lIns="0" tIns="0" rIns="0" bIns="0" rtlCol="0" anchor="ctr"/>
          <a:lstStyle/>
          <a:p>
            <a:pPr indent="0" marL="0">
              <a:buNone/>
            </a:pPr>
            <a:r>
              <a:rPr lang="en-US" sz="1100" dirty="0">
                <a:solidFill>
                  <a:srgbClr val="5D6D7A"/>
                </a:solidFill>
                <a:latin typeface="Calibri" pitchFamily="34" charset="0"/>
                <a:ea typeface="Calibri" pitchFamily="34" charset="-122"/>
                <a:cs typeface="Calibri" pitchFamily="34" charset="-120"/>
              </a:rPr>
              <a:t>vs 42.2% conventional resources (ITT, adj. p &lt; .05); 52.0% when AI was actually used (p &lt; .001). 101 attendings, 606 responses.</a:t>
            </a:r>
            <a:endParaRPr lang="en-US" sz="1100" dirty="0"/>
          </a:p>
        </p:txBody>
      </p:sp>
      <p:sp>
        <p:nvSpPr>
          <p:cNvPr id="8" name="Shape 6"/>
          <p:cNvSpPr/>
          <p:nvPr/>
        </p:nvSpPr>
        <p:spPr>
          <a:xfrm>
            <a:off x="3390138" y="1600200"/>
            <a:ext cx="2567178" cy="2468880"/>
          </a:xfrm>
          <a:prstGeom prst="roundRect">
            <a:avLst>
              <a:gd name="adj" fmla="val 2963"/>
            </a:avLst>
          </a:prstGeom>
          <a:solidFill>
            <a:srgbClr val="EEF3F8"/>
          </a:solidFill>
          <a:ln w="9525">
            <a:solidFill>
              <a:srgbClr val="D3DEE8"/>
            </a:solidFill>
            <a:prstDash val="solid"/>
          </a:ln>
        </p:spPr>
      </p:sp>
      <p:sp>
        <p:nvSpPr>
          <p:cNvPr id="9" name="Text 7"/>
          <p:cNvSpPr/>
          <p:nvPr/>
        </p:nvSpPr>
        <p:spPr>
          <a:xfrm>
            <a:off x="3591306" y="1746504"/>
            <a:ext cx="2164842" cy="868680"/>
          </a:xfrm>
          <a:prstGeom prst="rect">
            <a:avLst/>
          </a:prstGeom>
          <a:noFill/>
          <a:ln/>
        </p:spPr>
        <p:txBody>
          <a:bodyPr wrap="square" lIns="0" tIns="0" rIns="0" bIns="0" rtlCol="0" anchor="ctr"/>
          <a:lstStyle/>
          <a:p>
            <a:pPr indent="0" marL="0">
              <a:buNone/>
            </a:pPr>
            <a:r>
              <a:rPr lang="en-US" sz="4000" b="1" dirty="0">
                <a:solidFill>
                  <a:srgbClr val="16324F"/>
                </a:solidFill>
                <a:latin typeface="Cambria" pitchFamily="34" charset="0"/>
                <a:ea typeface="Cambria" pitchFamily="34" charset="-122"/>
                <a:cs typeface="Cambria" pitchFamily="34" charset="-120"/>
              </a:rPr>
              <a:t>76.5%</a:t>
            </a:r>
            <a:endParaRPr lang="en-US" sz="4000" dirty="0"/>
          </a:p>
        </p:txBody>
      </p:sp>
      <p:sp>
        <p:nvSpPr>
          <p:cNvPr id="10" name="Text 8"/>
          <p:cNvSpPr/>
          <p:nvPr/>
        </p:nvSpPr>
        <p:spPr>
          <a:xfrm>
            <a:off x="3591306" y="2587752"/>
            <a:ext cx="2164842" cy="566928"/>
          </a:xfrm>
          <a:prstGeom prst="rect">
            <a:avLst/>
          </a:prstGeom>
          <a:noFill/>
          <a:ln/>
        </p:spPr>
        <p:txBody>
          <a:bodyPr wrap="square" lIns="0" tIns="0" rIns="0" bIns="0" rtlCol="0" anchor="ctr"/>
          <a:lstStyle/>
          <a:p>
            <a:pPr indent="0" marL="0">
              <a:buNone/>
            </a:pPr>
            <a:r>
              <a:rPr lang="en-US" sz="1350" b="1" dirty="0">
                <a:solidFill>
                  <a:srgbClr val="1C2833"/>
                </a:solidFill>
                <a:latin typeface="Calibri" pitchFamily="34" charset="0"/>
                <a:ea typeface="Calibri" pitchFamily="34" charset="-122"/>
                <a:cs typeface="Calibri" pitchFamily="34" charset="-120"/>
              </a:rPr>
              <a:t>Best frontier model alone</a:t>
            </a:r>
            <a:endParaRPr lang="en-US" sz="1350" dirty="0"/>
          </a:p>
        </p:txBody>
      </p:sp>
      <p:sp>
        <p:nvSpPr>
          <p:cNvPr id="11" name="Text 9"/>
          <p:cNvSpPr/>
          <p:nvPr/>
        </p:nvSpPr>
        <p:spPr>
          <a:xfrm>
            <a:off x="3591306" y="3136392"/>
            <a:ext cx="2164842" cy="786384"/>
          </a:xfrm>
          <a:prstGeom prst="rect">
            <a:avLst/>
          </a:prstGeom>
          <a:noFill/>
          <a:ln/>
        </p:spPr>
        <p:txBody>
          <a:bodyPr wrap="square" lIns="0" tIns="0" rIns="0" bIns="0" rtlCol="0" anchor="ctr"/>
          <a:lstStyle/>
          <a:p>
            <a:pPr indent="0" marL="0">
              <a:buNone/>
            </a:pPr>
            <a:r>
              <a:rPr lang="en-US" sz="1100" dirty="0">
                <a:solidFill>
                  <a:srgbClr val="5D6D7A"/>
                </a:solidFill>
                <a:latin typeface="Calibri" pitchFamily="34" charset="0"/>
                <a:ea typeface="Calibri" pitchFamily="34" charset="-122"/>
                <a:cs typeface="Calibri" pitchFamily="34" charset="-120"/>
              </a:rPr>
              <a:t>AI-assisted physicians still scored far below several frontier models working alone on the same cases.</a:t>
            </a:r>
            <a:endParaRPr lang="en-US" sz="1100" dirty="0"/>
          </a:p>
        </p:txBody>
      </p:sp>
      <p:sp>
        <p:nvSpPr>
          <p:cNvPr id="12" name="Shape 10"/>
          <p:cNvSpPr/>
          <p:nvPr/>
        </p:nvSpPr>
        <p:spPr>
          <a:xfrm>
            <a:off x="6231636" y="1600200"/>
            <a:ext cx="2567178" cy="2468880"/>
          </a:xfrm>
          <a:prstGeom prst="roundRect">
            <a:avLst>
              <a:gd name="adj" fmla="val 2963"/>
            </a:avLst>
          </a:prstGeom>
          <a:solidFill>
            <a:srgbClr val="EEF3F8"/>
          </a:solidFill>
          <a:ln w="9525">
            <a:solidFill>
              <a:srgbClr val="D3DEE8"/>
            </a:solidFill>
            <a:prstDash val="solid"/>
          </a:ln>
        </p:spPr>
      </p:sp>
      <p:sp>
        <p:nvSpPr>
          <p:cNvPr id="13" name="Text 11"/>
          <p:cNvSpPr/>
          <p:nvPr/>
        </p:nvSpPr>
        <p:spPr>
          <a:xfrm>
            <a:off x="6432804" y="1746504"/>
            <a:ext cx="2164842" cy="868680"/>
          </a:xfrm>
          <a:prstGeom prst="rect">
            <a:avLst/>
          </a:prstGeom>
          <a:noFill/>
          <a:ln/>
        </p:spPr>
        <p:txBody>
          <a:bodyPr wrap="square" lIns="0" tIns="0" rIns="0" bIns="0" rtlCol="0" anchor="ctr"/>
          <a:lstStyle/>
          <a:p>
            <a:pPr indent="0" marL="0">
              <a:buNone/>
            </a:pPr>
            <a:r>
              <a:rPr lang="en-US" sz="4000" b="1" dirty="0">
                <a:solidFill>
                  <a:srgbClr val="B03A2E"/>
                </a:solidFill>
                <a:latin typeface="Cambria" pitchFamily="34" charset="0"/>
                <a:ea typeface="Cambria" pitchFamily="34" charset="-122"/>
                <a:cs typeface="Cambria" pitchFamily="34" charset="-120"/>
              </a:rPr>
              <a:t>82.7%</a:t>
            </a:r>
            <a:endParaRPr lang="en-US" sz="4000" dirty="0"/>
          </a:p>
        </p:txBody>
      </p:sp>
      <p:sp>
        <p:nvSpPr>
          <p:cNvPr id="14" name="Text 12"/>
          <p:cNvSpPr/>
          <p:nvPr/>
        </p:nvSpPr>
        <p:spPr>
          <a:xfrm>
            <a:off x="6432804" y="2587752"/>
            <a:ext cx="2164842" cy="566928"/>
          </a:xfrm>
          <a:prstGeom prst="rect">
            <a:avLst/>
          </a:prstGeom>
          <a:noFill/>
          <a:ln/>
        </p:spPr>
        <p:txBody>
          <a:bodyPr wrap="square" lIns="0" tIns="0" rIns="0" bIns="0" rtlCol="0" anchor="ctr"/>
          <a:lstStyle/>
          <a:p>
            <a:pPr indent="0" marL="0">
              <a:buNone/>
            </a:pPr>
            <a:r>
              <a:rPr lang="en-US" sz="1350" b="1" dirty="0">
                <a:solidFill>
                  <a:srgbClr val="1C2833"/>
                </a:solidFill>
                <a:latin typeface="Calibri" pitchFamily="34" charset="0"/>
                <a:ea typeface="Calibri" pitchFamily="34" charset="-122"/>
                <a:cs typeface="Calibri" pitchFamily="34" charset="-120"/>
              </a:rPr>
              <a:t>Physicians ignored good AI advice</a:t>
            </a:r>
            <a:endParaRPr lang="en-US" sz="1350" dirty="0"/>
          </a:p>
        </p:txBody>
      </p:sp>
      <p:sp>
        <p:nvSpPr>
          <p:cNvPr id="15" name="Text 13"/>
          <p:cNvSpPr/>
          <p:nvPr/>
        </p:nvSpPr>
        <p:spPr>
          <a:xfrm>
            <a:off x="6432804" y="3136392"/>
            <a:ext cx="2164842" cy="786384"/>
          </a:xfrm>
          <a:prstGeom prst="rect">
            <a:avLst/>
          </a:prstGeom>
          <a:noFill/>
          <a:ln/>
        </p:spPr>
        <p:txBody>
          <a:bodyPr wrap="square" lIns="0" tIns="0" rIns="0" bIns="0" rtlCol="0" anchor="ctr"/>
          <a:lstStyle/>
          <a:p>
            <a:pPr indent="0" marL="0">
              <a:buNone/>
            </a:pPr>
            <a:r>
              <a:rPr lang="en-US" sz="1100" dirty="0">
                <a:solidFill>
                  <a:srgbClr val="5D6D7A"/>
                </a:solidFill>
                <a:latin typeface="Calibri" pitchFamily="34" charset="0"/>
                <a:ea typeface="Calibri" pitchFamily="34" charset="-122"/>
                <a:cs typeface="Calibri" pitchFamily="34" charset="-120"/>
              </a:rPr>
              <a:t>Share of physicians who omitted at least one moderate-harm-tier action their own AI assistant had surfaced.</a:t>
            </a:r>
            <a:endParaRPr lang="en-US" sz="1100" dirty="0"/>
          </a:p>
        </p:txBody>
      </p:sp>
      <p:sp>
        <p:nvSpPr>
          <p:cNvPr id="16" name="Shape 14"/>
          <p:cNvSpPr/>
          <p:nvPr/>
        </p:nvSpPr>
        <p:spPr>
          <a:xfrm>
            <a:off x="9073134" y="1600200"/>
            <a:ext cx="2567178" cy="2468880"/>
          </a:xfrm>
          <a:prstGeom prst="roundRect">
            <a:avLst>
              <a:gd name="adj" fmla="val 2963"/>
            </a:avLst>
          </a:prstGeom>
          <a:solidFill>
            <a:srgbClr val="EEF3F8"/>
          </a:solidFill>
          <a:ln w="9525">
            <a:solidFill>
              <a:srgbClr val="D3DEE8"/>
            </a:solidFill>
            <a:prstDash val="solid"/>
          </a:ln>
        </p:spPr>
      </p:sp>
      <p:sp>
        <p:nvSpPr>
          <p:cNvPr id="17" name="Text 15"/>
          <p:cNvSpPr/>
          <p:nvPr/>
        </p:nvSpPr>
        <p:spPr>
          <a:xfrm>
            <a:off x="9274302" y="1746504"/>
            <a:ext cx="2164842" cy="868680"/>
          </a:xfrm>
          <a:prstGeom prst="rect">
            <a:avLst/>
          </a:prstGeom>
          <a:noFill/>
          <a:ln/>
        </p:spPr>
        <p:txBody>
          <a:bodyPr wrap="square" lIns="0" tIns="0" rIns="0" bIns="0" rtlCol="0" anchor="ctr"/>
          <a:lstStyle/>
          <a:p>
            <a:pPr indent="0" marL="0">
              <a:buNone/>
            </a:pPr>
            <a:r>
              <a:rPr lang="en-US" sz="4000" b="1" dirty="0">
                <a:solidFill>
                  <a:srgbClr val="B03A2E"/>
                </a:solidFill>
                <a:latin typeface="Cambria" pitchFamily="34" charset="0"/>
                <a:ea typeface="Cambria" pitchFamily="34" charset="-122"/>
                <a:cs typeface="Cambria" pitchFamily="34" charset="-120"/>
              </a:rPr>
              <a:t>&gt;80%</a:t>
            </a:r>
            <a:endParaRPr lang="en-US" sz="4000" dirty="0"/>
          </a:p>
        </p:txBody>
      </p:sp>
      <p:sp>
        <p:nvSpPr>
          <p:cNvPr id="18" name="Text 16"/>
          <p:cNvSpPr/>
          <p:nvPr/>
        </p:nvSpPr>
        <p:spPr>
          <a:xfrm>
            <a:off x="9274302" y="2587752"/>
            <a:ext cx="2164842" cy="566928"/>
          </a:xfrm>
          <a:prstGeom prst="rect">
            <a:avLst/>
          </a:prstGeom>
          <a:noFill/>
          <a:ln/>
        </p:spPr>
        <p:txBody>
          <a:bodyPr wrap="square" lIns="0" tIns="0" rIns="0" bIns="0" rtlCol="0" anchor="ctr"/>
          <a:lstStyle/>
          <a:p>
            <a:pPr indent="0" marL="0">
              <a:buNone/>
            </a:pPr>
            <a:r>
              <a:rPr lang="en-US" sz="1350" b="1" dirty="0">
                <a:solidFill>
                  <a:srgbClr val="1C2833"/>
                </a:solidFill>
                <a:latin typeface="Calibri" pitchFamily="34" charset="0"/>
                <a:ea typeface="Calibri" pitchFamily="34" charset="-122"/>
                <a:cs typeface="Calibri" pitchFamily="34" charset="-120"/>
              </a:rPr>
              <a:t>Severe errors were omissions</a:t>
            </a:r>
            <a:endParaRPr lang="en-US" sz="1350" dirty="0"/>
          </a:p>
        </p:txBody>
      </p:sp>
      <p:sp>
        <p:nvSpPr>
          <p:cNvPr id="19" name="Text 17"/>
          <p:cNvSpPr/>
          <p:nvPr/>
        </p:nvSpPr>
        <p:spPr>
          <a:xfrm>
            <a:off x="9274302" y="3136392"/>
            <a:ext cx="2164842" cy="786384"/>
          </a:xfrm>
          <a:prstGeom prst="rect">
            <a:avLst/>
          </a:prstGeom>
          <a:noFill/>
          <a:ln/>
        </p:spPr>
        <p:txBody>
          <a:bodyPr wrap="square" lIns="0" tIns="0" rIns="0" bIns="0" rtlCol="0" anchor="ctr"/>
          <a:lstStyle/>
          <a:p>
            <a:pPr indent="0" marL="0">
              <a:buNone/>
            </a:pPr>
            <a:r>
              <a:rPr lang="en-US" sz="1100" dirty="0">
                <a:solidFill>
                  <a:srgbClr val="5D6D7A"/>
                </a:solidFill>
                <a:latin typeface="Calibri" pitchFamily="34" charset="0"/>
                <a:ea typeface="Calibri" pitchFamily="34" charset="-122"/>
                <a:cs typeface="Calibri" pitchFamily="34" charset="-120"/>
              </a:rPr>
              <a:t>Across all systems, severe harm was dominated by what models failed to say — the consultation analog of under-triage.</a:t>
            </a:r>
            <a:endParaRPr lang="en-US" sz="1100" dirty="0"/>
          </a:p>
        </p:txBody>
      </p:sp>
      <p:sp>
        <p:nvSpPr>
          <p:cNvPr id="20" name="Shape 18"/>
          <p:cNvSpPr/>
          <p:nvPr/>
        </p:nvSpPr>
        <p:spPr>
          <a:xfrm>
            <a:off x="548640" y="4297680"/>
            <a:ext cx="11091672" cy="1234440"/>
          </a:xfrm>
          <a:prstGeom prst="roundRect">
            <a:avLst>
              <a:gd name="adj" fmla="val 5926"/>
            </a:avLst>
          </a:prstGeom>
          <a:solidFill>
            <a:srgbClr val="E2F0EC"/>
          </a:solidFill>
          <a:ln/>
        </p:spPr>
      </p:sp>
      <p:sp>
        <p:nvSpPr>
          <p:cNvPr id="21" name="Text 19"/>
          <p:cNvSpPr/>
          <p:nvPr/>
        </p:nvSpPr>
        <p:spPr>
          <a:xfrm>
            <a:off x="777240" y="4453128"/>
            <a:ext cx="10634472" cy="960120"/>
          </a:xfrm>
          <a:prstGeom prst="rect">
            <a:avLst/>
          </a:prstGeom>
          <a:noFill/>
          <a:ln/>
        </p:spPr>
        <p:txBody>
          <a:bodyPr wrap="square" lIns="0" tIns="0" rIns="0" bIns="0" rtlCol="0" anchor="t"/>
          <a:lstStyle/>
          <a:p>
            <a:pPr indent="0" marL="0">
              <a:buNone/>
            </a:pPr>
            <a:r>
              <a:rPr lang="en-US" sz="1250" b="1" dirty="0">
                <a:solidFill>
                  <a:srgbClr val="0E7C66"/>
                </a:solidFill>
                <a:latin typeface="Calibri" pitchFamily="34" charset="0"/>
                <a:ea typeface="Calibri" pitchFamily="34" charset="-122"/>
                <a:cs typeface="Calibri" pitchFamily="34" charset="-120"/>
              </a:rPr>
              <a:t>“Suggestion adoption failure” — already a pre-specified Arm C metric in this protocol — has now been measured in physicians. </a:t>
            </a:r>
            <a:pPr indent="0" marL="0">
              <a:buNone/>
            </a:pPr>
            <a:r>
              <a:rPr lang="en-US" sz="1250" dirty="0">
                <a:solidFill>
                  <a:srgbClr val="1C2833"/>
                </a:solidFill>
                <a:latin typeface="Calibri" pitchFamily="34" charset="0"/>
                <a:ea typeface="Calibri" pitchFamily="34" charset="-122"/>
                <a:cs typeface="Calibri" pitchFamily="34" charset="-120"/>
              </a:rPr>
              <a:t>Combined human+AI answers would have beaten both alone: complementary errors, unrealized teaming potential. Cross-vendor AI teams beat single-vendor self-review (uncorrelated errors) — external support for our multi-model design.</a:t>
            </a:r>
            <a:endParaRPr lang="en-US" sz="1250" dirty="0"/>
          </a:p>
        </p:txBody>
      </p:sp>
      <p:sp>
        <p:nvSpPr>
          <p:cNvPr id="22" name="Text 20"/>
          <p:cNvSpPr/>
          <p:nvPr/>
        </p:nvSpPr>
        <p:spPr>
          <a:xfrm>
            <a:off x="548640" y="6419088"/>
            <a:ext cx="11091672" cy="310896"/>
          </a:xfrm>
          <a:prstGeom prst="rect">
            <a:avLst/>
          </a:prstGeom>
          <a:noFill/>
          <a:ln/>
        </p:spPr>
        <p:txBody>
          <a:bodyPr wrap="square" lIns="0" tIns="0" rIns="0" bIns="0" rtlCol="0" anchor="ctr"/>
          <a:lstStyle/>
          <a:p>
            <a:pPr indent="0" marL="0">
              <a:buNone/>
            </a:pPr>
            <a:r>
              <a:rPr lang="en-US" sz="950" dirty="0">
                <a:solidFill>
                  <a:srgbClr val="5D6D7A"/>
                </a:solidFill>
                <a:latin typeface="Calibri" pitchFamily="34" charset="0"/>
                <a:ea typeface="Calibri" pitchFamily="34" charset="-122"/>
                <a:cs typeface="Calibri" pitchFamily="34" charset="-120"/>
              </a:rPr>
              <a:t>Wu D, Nateghi Haredasht F, et al. First, do NOHARM. arXiv 2512.01241 (preprint, not peer-reviewed) — Stanford/BIDMC; same group as Goh et al. 2024. Clinician-facing eConsult construct; complements, does not overlap, this trial.</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274320"/>
          </a:xfrm>
          <a:prstGeom prst="rect">
            <a:avLst/>
          </a:prstGeom>
          <a:noFill/>
          <a:ln/>
        </p:spPr>
        <p:txBody>
          <a:bodyPr wrap="square" lIns="0" tIns="0" rIns="0" bIns="0" rtlCol="0" anchor="ctr"/>
          <a:lstStyle/>
          <a:p>
            <a:pPr indent="0" marL="0">
              <a:buNone/>
            </a:pPr>
            <a:r>
              <a:rPr lang="en-US" sz="1150" b="1" spc="200" kern="0" dirty="0">
                <a:solidFill>
                  <a:srgbClr val="0E7C66"/>
                </a:solidFill>
                <a:latin typeface="Calibri" pitchFamily="34" charset="0"/>
                <a:ea typeface="Calibri" pitchFamily="34" charset="-122"/>
                <a:cs typeface="Calibri" pitchFamily="34" charset="-120"/>
              </a:rPr>
              <a:t>PART IV · SCORING — SLIDE D</a:t>
            </a:r>
            <a:endParaRPr lang="en-US" sz="1150" dirty="0"/>
          </a:p>
        </p:txBody>
      </p:sp>
      <p:sp>
        <p:nvSpPr>
          <p:cNvPr id="3" name="Text 1"/>
          <p:cNvSpPr/>
          <p:nvPr/>
        </p:nvSpPr>
        <p:spPr>
          <a:xfrm>
            <a:off x="548640" y="530352"/>
            <a:ext cx="11091672" cy="914400"/>
          </a:xfrm>
          <a:prstGeom prst="rect">
            <a:avLst/>
          </a:prstGeom>
          <a:noFill/>
          <a:ln/>
        </p:spPr>
        <p:txBody>
          <a:bodyPr wrap="square" lIns="0" tIns="0" rIns="0" bIns="0" rtlCol="0" anchor="t"/>
          <a:lstStyle/>
          <a:p>
            <a:pPr indent="0" marL="0">
              <a:buNone/>
            </a:pPr>
            <a:r>
              <a:rPr lang="en-US" sz="2700" b="1" dirty="0">
                <a:solidFill>
                  <a:srgbClr val="16324F"/>
                </a:solidFill>
                <a:latin typeface="Cambria" pitchFamily="34" charset="0"/>
                <a:ea typeface="Cambria" pitchFamily="34" charset="-122"/>
                <a:cs typeface="Cambria" pitchFamily="34" charset="-120"/>
              </a:rPr>
              <a:t>Harm judging: humans set the standard, machines scale it</a:t>
            </a:r>
            <a:endParaRPr lang="en-US" sz="2700" dirty="0"/>
          </a:p>
        </p:txBody>
      </p:sp>
      <p:sp>
        <p:nvSpPr>
          <p:cNvPr id="4" name="Shape 2"/>
          <p:cNvSpPr/>
          <p:nvPr/>
        </p:nvSpPr>
        <p:spPr>
          <a:xfrm>
            <a:off x="548640" y="1600200"/>
            <a:ext cx="7818120" cy="1298448"/>
          </a:xfrm>
          <a:prstGeom prst="roundRect">
            <a:avLst>
              <a:gd name="adj" fmla="val 5634"/>
            </a:avLst>
          </a:prstGeom>
          <a:solidFill>
            <a:srgbClr val="E2F0EC"/>
          </a:solidFill>
          <a:ln w="9525">
            <a:solidFill>
              <a:srgbClr val="D3DEE8"/>
            </a:solidFill>
            <a:prstDash val="solid"/>
          </a:ln>
        </p:spPr>
      </p:sp>
      <p:sp>
        <p:nvSpPr>
          <p:cNvPr id="5" name="Shape 3"/>
          <p:cNvSpPr/>
          <p:nvPr/>
        </p:nvSpPr>
        <p:spPr>
          <a:xfrm>
            <a:off x="731520" y="1764792"/>
            <a:ext cx="420624" cy="420624"/>
          </a:xfrm>
          <a:prstGeom prst="ellipse">
            <a:avLst/>
          </a:prstGeom>
          <a:solidFill>
            <a:srgbClr val="0E7C66"/>
          </a:solidFill>
          <a:ln/>
        </p:spPr>
      </p:sp>
      <p:sp>
        <p:nvSpPr>
          <p:cNvPr id="6" name="Text 4"/>
          <p:cNvSpPr/>
          <p:nvPr/>
        </p:nvSpPr>
        <p:spPr>
          <a:xfrm>
            <a:off x="731520" y="176479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298448" y="1709928"/>
            <a:ext cx="6903720" cy="310896"/>
          </a:xfrm>
          <a:prstGeom prst="rect">
            <a:avLst/>
          </a:prstGeom>
          <a:noFill/>
          <a:ln/>
        </p:spPr>
        <p:txBody>
          <a:bodyPr wrap="square" lIns="0" tIns="0" rIns="0" bIns="0" rtlCol="0" anchor="ctr"/>
          <a:lstStyle/>
          <a:p>
            <a:pPr indent="0" marL="0">
              <a:buNone/>
            </a:pPr>
            <a:r>
              <a:rPr lang="en-US" sz="1350" b="1" dirty="0">
                <a:solidFill>
                  <a:srgbClr val="1C2833"/>
                </a:solidFill>
                <a:latin typeface="Calibri" pitchFamily="34" charset="0"/>
                <a:ea typeface="Calibri" pitchFamily="34" charset="-122"/>
                <a:cs typeface="Calibri" pitchFamily="34" charset="-120"/>
              </a:rPr>
              <a:t>Physicians judge harm once, upstream</a:t>
            </a:r>
            <a:endParaRPr lang="en-US" sz="1350" dirty="0"/>
          </a:p>
        </p:txBody>
      </p:sp>
      <p:sp>
        <p:nvSpPr>
          <p:cNvPr id="8" name="Text 6"/>
          <p:cNvSpPr/>
          <p:nvPr/>
        </p:nvSpPr>
        <p:spPr>
          <a:xfrm>
            <a:off x="1298448" y="2020824"/>
            <a:ext cx="6903720" cy="841248"/>
          </a:xfrm>
          <a:prstGeom prst="rect">
            <a:avLst/>
          </a:prstGeom>
          <a:noFill/>
          <a:ln/>
        </p:spPr>
        <p:txBody>
          <a:bodyPr wrap="square" lIns="0" tIns="0" rIns="0" bIns="0" rtlCol="0" anchor="t"/>
          <a:lstStyle/>
          <a:p>
            <a:pPr indent="0" marL="0">
              <a:buNone/>
            </a:pPr>
            <a:r>
              <a:rPr lang="en-US" sz="1080" dirty="0">
                <a:solidFill>
                  <a:srgbClr val="5D6D7A"/>
                </a:solidFill>
                <a:latin typeface="Calibri" pitchFamily="34" charset="0"/>
                <a:ea typeface="Calibri" pitchFamily="34" charset="-122"/>
                <a:cs typeface="Calibri" pitchFamily="34" charset="-120"/>
              </a:rPr>
              <a:t>EM-physician Delphi gold standard: disposition, escalation threshold, killer items, severity weights — anchored to RAND/UCLA appropriateness + WHO harm-severity definitions. “Severe” requires rater unanimity, else downgraded one tier.</a:t>
            </a:r>
            <a:endParaRPr lang="en-US" sz="1080" dirty="0"/>
          </a:p>
        </p:txBody>
      </p:sp>
      <p:sp>
        <p:nvSpPr>
          <p:cNvPr id="9" name="Shape 7"/>
          <p:cNvSpPr/>
          <p:nvPr/>
        </p:nvSpPr>
        <p:spPr>
          <a:xfrm>
            <a:off x="548640" y="3044952"/>
            <a:ext cx="7818120" cy="1298448"/>
          </a:xfrm>
          <a:prstGeom prst="roundRect">
            <a:avLst>
              <a:gd name="adj" fmla="val 5634"/>
            </a:avLst>
          </a:prstGeom>
          <a:solidFill>
            <a:srgbClr val="EEF3F8"/>
          </a:solidFill>
          <a:ln w="9525">
            <a:solidFill>
              <a:srgbClr val="D3DEE8"/>
            </a:solidFill>
            <a:prstDash val="solid"/>
          </a:ln>
        </p:spPr>
      </p:sp>
      <p:sp>
        <p:nvSpPr>
          <p:cNvPr id="10" name="Shape 8"/>
          <p:cNvSpPr/>
          <p:nvPr/>
        </p:nvSpPr>
        <p:spPr>
          <a:xfrm>
            <a:off x="731520" y="3209544"/>
            <a:ext cx="420624" cy="420624"/>
          </a:xfrm>
          <a:prstGeom prst="ellipse">
            <a:avLst/>
          </a:prstGeom>
          <a:solidFill>
            <a:srgbClr val="16324F"/>
          </a:solidFill>
          <a:ln/>
        </p:spPr>
      </p:sp>
      <p:sp>
        <p:nvSpPr>
          <p:cNvPr id="11" name="Text 9"/>
          <p:cNvSpPr/>
          <p:nvPr/>
        </p:nvSpPr>
        <p:spPr>
          <a:xfrm>
            <a:off x="731520" y="320954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298448" y="3154680"/>
            <a:ext cx="6903720" cy="310896"/>
          </a:xfrm>
          <a:prstGeom prst="rect">
            <a:avLst/>
          </a:prstGeom>
          <a:noFill/>
          <a:ln/>
        </p:spPr>
        <p:txBody>
          <a:bodyPr wrap="square" lIns="0" tIns="0" rIns="0" bIns="0" rtlCol="0" anchor="ctr"/>
          <a:lstStyle/>
          <a:p>
            <a:pPr indent="0" marL="0">
              <a:buNone/>
            </a:pPr>
            <a:r>
              <a:rPr lang="en-US" sz="1350" b="1" dirty="0">
                <a:solidFill>
                  <a:srgbClr val="1C2833"/>
                </a:solidFill>
                <a:latin typeface="Calibri" pitchFamily="34" charset="0"/>
                <a:ea typeface="Calibri" pitchFamily="34" charset="-122"/>
                <a:cs typeface="Calibri" pitchFamily="34" charset="-120"/>
              </a:rPr>
              <a:t>Deterministic scoring wherever possible</a:t>
            </a:r>
            <a:endParaRPr lang="en-US" sz="1350" dirty="0"/>
          </a:p>
        </p:txBody>
      </p:sp>
      <p:sp>
        <p:nvSpPr>
          <p:cNvPr id="13" name="Text 11"/>
          <p:cNvSpPr/>
          <p:nvPr/>
        </p:nvSpPr>
        <p:spPr>
          <a:xfrm>
            <a:off x="1298448" y="3465576"/>
            <a:ext cx="6903720" cy="841248"/>
          </a:xfrm>
          <a:prstGeom prst="rect">
            <a:avLst/>
          </a:prstGeom>
          <a:noFill/>
          <a:ln/>
        </p:spPr>
        <p:txBody>
          <a:bodyPr wrap="square" lIns="0" tIns="0" rIns="0" bIns="0" rtlCol="0" anchor="t"/>
          <a:lstStyle/>
          <a:p>
            <a:pPr indent="0" marL="0">
              <a:buNone/>
            </a:pPr>
            <a:r>
              <a:rPr lang="en-US" sz="1080" dirty="0">
                <a:solidFill>
                  <a:srgbClr val="5D6D7A"/>
                </a:solidFill>
                <a:latin typeface="Calibri" pitchFamily="34" charset="0"/>
                <a:ea typeface="Calibri" pitchFamily="34" charset="-122"/>
                <a:cs typeface="Calibri" pitchFamily="34" charset="-120"/>
              </a:rPr>
              <a:t>Explicit escalation detected by a pre-registered phrase rule set from the model's own free-text words (hardened Change 7); killer items and ESI match auto-scored against the answer key. No model judges the primary endpoint.</a:t>
            </a:r>
            <a:endParaRPr lang="en-US" sz="1080" dirty="0"/>
          </a:p>
        </p:txBody>
      </p:sp>
      <p:sp>
        <p:nvSpPr>
          <p:cNvPr id="14" name="Shape 12"/>
          <p:cNvSpPr/>
          <p:nvPr/>
        </p:nvSpPr>
        <p:spPr>
          <a:xfrm>
            <a:off x="548640" y="4489704"/>
            <a:ext cx="7818120" cy="1298448"/>
          </a:xfrm>
          <a:prstGeom prst="roundRect">
            <a:avLst>
              <a:gd name="adj" fmla="val 5634"/>
            </a:avLst>
          </a:prstGeom>
          <a:solidFill>
            <a:srgbClr val="EEF3F8"/>
          </a:solidFill>
          <a:ln w="9525">
            <a:solidFill>
              <a:srgbClr val="D3DEE8"/>
            </a:solidFill>
            <a:prstDash val="solid"/>
          </a:ln>
        </p:spPr>
      </p:sp>
      <p:sp>
        <p:nvSpPr>
          <p:cNvPr id="15" name="Shape 13"/>
          <p:cNvSpPr/>
          <p:nvPr/>
        </p:nvSpPr>
        <p:spPr>
          <a:xfrm>
            <a:off x="731520" y="4654296"/>
            <a:ext cx="420624" cy="420624"/>
          </a:xfrm>
          <a:prstGeom prst="ellipse">
            <a:avLst/>
          </a:prstGeom>
          <a:solidFill>
            <a:srgbClr val="16324F"/>
          </a:solidFill>
          <a:ln/>
        </p:spPr>
      </p:sp>
      <p:sp>
        <p:nvSpPr>
          <p:cNvPr id="16" name="Text 14"/>
          <p:cNvSpPr/>
          <p:nvPr/>
        </p:nvSpPr>
        <p:spPr>
          <a:xfrm>
            <a:off x="731520" y="465429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298448" y="4599432"/>
            <a:ext cx="6903720" cy="310896"/>
          </a:xfrm>
          <a:prstGeom prst="rect">
            <a:avLst/>
          </a:prstGeom>
          <a:noFill/>
          <a:ln/>
        </p:spPr>
        <p:txBody>
          <a:bodyPr wrap="square" lIns="0" tIns="0" rIns="0" bIns="0" rtlCol="0" anchor="ctr"/>
          <a:lstStyle/>
          <a:p>
            <a:pPr indent="0" marL="0">
              <a:buNone/>
            </a:pPr>
            <a:r>
              <a:rPr lang="en-US" sz="1350" b="1" dirty="0">
                <a:solidFill>
                  <a:srgbClr val="1C2833"/>
                </a:solidFill>
                <a:latin typeface="Calibri" pitchFamily="34" charset="0"/>
                <a:ea typeface="Calibri" pitchFamily="34" charset="-122"/>
                <a:cs typeface="Calibri" pitchFamily="34" charset="-120"/>
              </a:rPr>
              <a:t>Agent-judge ensemble — validated, never sovereign</a:t>
            </a:r>
            <a:endParaRPr lang="en-US" sz="1350" dirty="0"/>
          </a:p>
        </p:txBody>
      </p:sp>
      <p:sp>
        <p:nvSpPr>
          <p:cNvPr id="18" name="Text 16"/>
          <p:cNvSpPr/>
          <p:nvPr/>
        </p:nvSpPr>
        <p:spPr>
          <a:xfrm>
            <a:off x="1298448" y="4910328"/>
            <a:ext cx="6903720" cy="841248"/>
          </a:xfrm>
          <a:prstGeom prst="rect">
            <a:avLst/>
          </a:prstGeom>
          <a:noFill/>
          <a:ln/>
        </p:spPr>
        <p:txBody>
          <a:bodyPr wrap="square" lIns="0" tIns="0" rIns="0" bIns="0" rtlCol="0" anchor="t"/>
          <a:lstStyle/>
          <a:p>
            <a:pPr indent="0" marL="0">
              <a:buNone/>
            </a:pPr>
            <a:r>
              <a:rPr lang="en-US" sz="1080" dirty="0">
                <a:solidFill>
                  <a:srgbClr val="5D6D7A"/>
                </a:solidFill>
                <a:latin typeface="Calibri" pitchFamily="34" charset="0"/>
                <a:ea typeface="Calibri" pitchFamily="34" charset="-122"/>
                <a:cs typeface="Calibri" pitchFamily="34" charset="-120"/>
              </a:rPr>
              <a:t>For rubric components only (~30%): ≥3 independent frontier judges from different vendors, majority vote. Accepted only if agreement with the physician panel ≥ inter-physician agreement AND Gwet AC1 ≥ 0.75; self-preference diagnostics reported. Fails → reverts to physicians.</a:t>
            </a:r>
            <a:endParaRPr lang="en-US" sz="1080" dirty="0"/>
          </a:p>
        </p:txBody>
      </p:sp>
      <p:sp>
        <p:nvSpPr>
          <p:cNvPr id="19" name="Shape 17"/>
          <p:cNvSpPr/>
          <p:nvPr/>
        </p:nvSpPr>
        <p:spPr>
          <a:xfrm>
            <a:off x="8641080" y="1600200"/>
            <a:ext cx="2999232" cy="3950208"/>
          </a:xfrm>
          <a:prstGeom prst="roundRect">
            <a:avLst>
              <a:gd name="adj" fmla="val 2439"/>
            </a:avLst>
          </a:prstGeom>
          <a:solidFill>
            <a:srgbClr val="0E2238"/>
          </a:solidFill>
          <a:ln/>
        </p:spPr>
      </p:sp>
      <p:sp>
        <p:nvSpPr>
          <p:cNvPr id="20" name="Text 18"/>
          <p:cNvSpPr/>
          <p:nvPr/>
        </p:nvSpPr>
        <p:spPr>
          <a:xfrm>
            <a:off x="8842248" y="1783080"/>
            <a:ext cx="2596896" cy="50292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Why not agent judges alone?</a:t>
            </a:r>
            <a:endParaRPr lang="en-US" sz="1450" dirty="0"/>
          </a:p>
        </p:txBody>
      </p:sp>
      <p:sp>
        <p:nvSpPr>
          <p:cNvPr id="21" name="Text 19"/>
          <p:cNvSpPr/>
          <p:nvPr/>
        </p:nvSpPr>
        <p:spPr>
          <a:xfrm>
            <a:off x="8842248" y="2286000"/>
            <a:ext cx="2596896" cy="3108960"/>
          </a:xfrm>
          <a:prstGeom prst="rect">
            <a:avLst/>
          </a:prstGeom>
          <a:noFill/>
          <a:ln/>
        </p:spPr>
        <p:txBody>
          <a:bodyPr wrap="square" lIns="0" tIns="0" rIns="0" bIns="0" rtlCol="0" anchor="t"/>
          <a:lstStyle/>
          <a:p>
            <a:pPr indent="0" marL="0">
              <a:spcAft>
                <a:spcPts val="800"/>
              </a:spcAft>
              <a:buNone/>
            </a:pPr>
            <a:r>
              <a:rPr lang="en-US" sz="1150" dirty="0">
                <a:solidFill>
                  <a:srgbClr val="C9D9E8"/>
                </a:solidFill>
                <a:latin typeface="Calibri" pitchFamily="34" charset="0"/>
                <a:ea typeface="Calibri" pitchFamily="34" charset="-122"/>
                <a:cs typeface="Calibri" pitchFamily="34" charset="-120"/>
              </a:rPr>
              <a:t>Our own Phase 1 data: AI evaluators disagreed systematically — one platform graded ~13–14 points harsher than the other four.</a:t>
            </a:r>
            <a:endParaRPr lang="en-US" sz="1150" dirty="0"/>
          </a:p>
          <a:p>
            <a:pPr indent="0" marL="0">
              <a:spcAft>
                <a:spcPts val="800"/>
              </a:spcAft>
              <a:buNone/>
            </a:pPr>
            <a:r>
              <a:rPr lang="en-US" sz="1150" dirty="0">
                <a:solidFill>
                  <a:srgbClr val="C9D9E8"/>
                </a:solidFill>
                <a:latin typeface="Calibri" pitchFamily="34" charset="0"/>
                <a:ea typeface="Calibri" pitchFamily="34" charset="-122"/>
                <a:cs typeface="Calibri" pitchFamily="34" charset="-120"/>
              </a:rPr>
              <a:t>NOHARM kept harm ratings exclusively human, and its extract-and-match autograder was accepted only because κ vs physicians (0.804) matched inter-physician κ (0.784).</a:t>
            </a:r>
            <a:endParaRPr lang="en-US" sz="1150" dirty="0"/>
          </a:p>
          <a:p>
            <a:pPr indent="0" marL="0">
              <a:buNone/>
            </a:pPr>
            <a:r>
              <a:rPr lang="en-US" sz="1150" b="1" dirty="0">
                <a:solidFill>
                  <a:srgbClr val="A9D6C9"/>
                </a:solidFill>
                <a:latin typeface="Calibri" pitchFamily="34" charset="0"/>
                <a:ea typeface="Calibri" pitchFamily="34" charset="-122"/>
                <a:cs typeface="Calibri" pitchFamily="34" charset="-120"/>
              </a:rPr>
              <a:t>Same bar here: machines scale the scoring; physicians own the standard.</a:t>
            </a:r>
            <a:endParaRPr lang="en-US" sz="1150" dirty="0"/>
          </a:p>
        </p:txBody>
      </p:sp>
      <p:sp>
        <p:nvSpPr>
          <p:cNvPr id="22" name="Text 20"/>
          <p:cNvSpPr/>
          <p:nvPr/>
        </p:nvSpPr>
        <p:spPr>
          <a:xfrm>
            <a:off x="548640" y="6419088"/>
            <a:ext cx="11091672" cy="310896"/>
          </a:xfrm>
          <a:prstGeom prst="rect">
            <a:avLst/>
          </a:prstGeom>
          <a:noFill/>
          <a:ln/>
        </p:spPr>
        <p:txBody>
          <a:bodyPr wrap="square" lIns="0" tIns="0" rIns="0" bIns="0" rtlCol="0" anchor="ctr"/>
          <a:lstStyle/>
          <a:p>
            <a:pPr indent="0" marL="0">
              <a:buNone/>
            </a:pPr>
            <a:r>
              <a:rPr lang="en-US" sz="950" dirty="0">
                <a:solidFill>
                  <a:srgbClr val="5D6D7A"/>
                </a:solidFill>
                <a:latin typeface="Calibri" pitchFamily="34" charset="0"/>
                <a:ea typeface="Calibri" pitchFamily="34" charset="-122"/>
                <a:cs typeface="Calibri" pitchFamily="34" charset="-120"/>
              </a:rPr>
              <a:t>Judging hierarchy per Addendum A (Change 7 hardened) + NOHARM-informed validation gates (Wu et al., arXiv 2512.01241, preprint). Three-tier physician adjudication (Livingston et al., JAMIA Open 2025) unchanged.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274320"/>
          </a:xfrm>
          <a:prstGeom prst="rect">
            <a:avLst/>
          </a:prstGeom>
          <a:noFill/>
          <a:ln/>
        </p:spPr>
        <p:txBody>
          <a:bodyPr wrap="square" lIns="0" tIns="0" rIns="0" bIns="0" rtlCol="0" anchor="ctr"/>
          <a:lstStyle/>
          <a:p>
            <a:pPr indent="0" marL="0">
              <a:buNone/>
            </a:pPr>
            <a:r>
              <a:rPr lang="en-US" sz="1150" b="1" spc="200" kern="0" dirty="0">
                <a:solidFill>
                  <a:srgbClr val="0E7C66"/>
                </a:solidFill>
                <a:latin typeface="Calibri" pitchFamily="34" charset="0"/>
                <a:ea typeface="Calibri" pitchFamily="34" charset="-122"/>
                <a:cs typeface="Calibri" pitchFamily="34" charset="-120"/>
              </a:rPr>
              <a:t>PART IV · SLIDE E — REPLACES SLIDE 27</a:t>
            </a:r>
            <a:endParaRPr lang="en-US" sz="1150" dirty="0"/>
          </a:p>
        </p:txBody>
      </p:sp>
      <p:sp>
        <p:nvSpPr>
          <p:cNvPr id="3" name="Text 1"/>
          <p:cNvSpPr/>
          <p:nvPr/>
        </p:nvSpPr>
        <p:spPr>
          <a:xfrm>
            <a:off x="548640" y="530352"/>
            <a:ext cx="11091672" cy="914400"/>
          </a:xfrm>
          <a:prstGeom prst="rect">
            <a:avLst/>
          </a:prstGeom>
          <a:noFill/>
          <a:ln/>
        </p:spPr>
        <p:txBody>
          <a:bodyPr wrap="square" lIns="0" tIns="0" rIns="0" bIns="0" rtlCol="0" anchor="t"/>
          <a:lstStyle/>
          <a:p>
            <a:pPr indent="0" marL="0">
              <a:buNone/>
            </a:pPr>
            <a:r>
              <a:rPr lang="en-US" sz="2700" b="1" dirty="0">
                <a:solidFill>
                  <a:srgbClr val="16324F"/>
                </a:solidFill>
                <a:latin typeface="Cambria" pitchFamily="34" charset="0"/>
                <a:ea typeface="Cambria" pitchFamily="34" charset="-122"/>
                <a:cs typeface="Cambria" pitchFamily="34" charset="-120"/>
              </a:rPr>
              <a:t>Protocol updates: adopted, hardened, and proposed this cycle</a:t>
            </a:r>
            <a:endParaRPr lang="en-US" sz="2700" dirty="0"/>
          </a:p>
        </p:txBody>
      </p:sp>
      <p:sp>
        <p:nvSpPr>
          <p:cNvPr id="4" name="Shape 2"/>
          <p:cNvSpPr/>
          <p:nvPr/>
        </p:nvSpPr>
        <p:spPr>
          <a:xfrm>
            <a:off x="548640" y="1554480"/>
            <a:ext cx="3514344" cy="4434840"/>
          </a:xfrm>
          <a:prstGeom prst="roundRect">
            <a:avLst>
              <a:gd name="adj" fmla="val 2082"/>
            </a:avLst>
          </a:prstGeom>
          <a:solidFill>
            <a:srgbClr val="EEF3F8"/>
          </a:solidFill>
          <a:ln w="9525">
            <a:solidFill>
              <a:srgbClr val="D3DEE8"/>
            </a:solidFill>
            <a:prstDash val="solid"/>
          </a:ln>
        </p:spPr>
      </p:sp>
      <p:sp>
        <p:nvSpPr>
          <p:cNvPr id="5" name="Text 3"/>
          <p:cNvSpPr/>
          <p:nvPr/>
        </p:nvSpPr>
        <p:spPr>
          <a:xfrm>
            <a:off x="731520" y="1700784"/>
            <a:ext cx="3148584" cy="548640"/>
          </a:xfrm>
          <a:prstGeom prst="rect">
            <a:avLst/>
          </a:prstGeom>
          <a:noFill/>
          <a:ln/>
        </p:spPr>
        <p:txBody>
          <a:bodyPr wrap="square" lIns="0" tIns="0" rIns="0" bIns="0" rtlCol="0" anchor="ctr"/>
          <a:lstStyle/>
          <a:p>
            <a:pPr indent="0" marL="0">
              <a:buNone/>
            </a:pPr>
            <a:r>
              <a:rPr lang="en-US" sz="1250" b="1" dirty="0">
                <a:solidFill>
                  <a:srgbClr val="16324F"/>
                </a:solidFill>
                <a:latin typeface="Calibri" pitchFamily="34" charset="0"/>
                <a:ea typeface="Calibri" pitchFamily="34" charset="-122"/>
                <a:cs typeface="Calibri" pitchFamily="34" charset="-120"/>
              </a:rPr>
              <a:t>ADOPTED — Amendment 1 (Jul 23)</a:t>
            </a:r>
            <a:endParaRPr lang="en-US" sz="1250" dirty="0"/>
          </a:p>
        </p:txBody>
      </p:sp>
      <p:sp>
        <p:nvSpPr>
          <p:cNvPr id="6" name="Text 4"/>
          <p:cNvSpPr/>
          <p:nvPr/>
        </p:nvSpPr>
        <p:spPr>
          <a:xfrm>
            <a:off x="731520" y="2286000"/>
            <a:ext cx="3148584" cy="3566160"/>
          </a:xfrm>
          <a:prstGeom prst="rect">
            <a:avLst/>
          </a:prstGeom>
          <a:noFill/>
          <a:ln/>
        </p:spPr>
        <p:txBody>
          <a:bodyPr wrap="square" lIns="0" tIns="0" rIns="0" bIns="0" rtlCol="0" anchor="t"/>
          <a:lstStyle/>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Renewed background: DDx accuracy vs triage safety</a:t>
            </a:r>
            <a:endParaRPr lang="en-US" sz="1080" dirty="0"/>
          </a:p>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Explicit-escalation endpoint; reassurance / fabricated-threshold failure subtypes</a:t>
            </a:r>
            <a:endParaRPr lang="en-US" sz="1080" dirty="0"/>
          </a:p>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Configuration factor (default vs scaffolded)</a:t>
            </a:r>
            <a:endParaRPr lang="en-US" sz="1080" dirty="0"/>
          </a:p>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SW=3 atypical-catastrophe class (PE / Winters archetype)</a:t>
            </a:r>
            <a:endParaRPr lang="en-US" sz="1080" dirty="0"/>
          </a:p>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Model-version pinning; +2 weeks timeline</a:t>
            </a:r>
            <a:endParaRPr lang="en-US" sz="1080" dirty="0"/>
          </a:p>
        </p:txBody>
      </p:sp>
      <p:sp>
        <p:nvSpPr>
          <p:cNvPr id="7" name="Shape 5"/>
          <p:cNvSpPr/>
          <p:nvPr/>
        </p:nvSpPr>
        <p:spPr>
          <a:xfrm>
            <a:off x="4337304" y="1554480"/>
            <a:ext cx="3514344" cy="4434840"/>
          </a:xfrm>
          <a:prstGeom prst="roundRect">
            <a:avLst>
              <a:gd name="adj" fmla="val 2082"/>
            </a:avLst>
          </a:prstGeom>
          <a:solidFill>
            <a:srgbClr val="EEF3F8"/>
          </a:solidFill>
          <a:ln w="9525">
            <a:solidFill>
              <a:srgbClr val="D3DEE8"/>
            </a:solidFill>
            <a:prstDash val="solid"/>
          </a:ln>
        </p:spPr>
      </p:sp>
      <p:sp>
        <p:nvSpPr>
          <p:cNvPr id="8" name="Text 6"/>
          <p:cNvSpPr/>
          <p:nvPr/>
        </p:nvSpPr>
        <p:spPr>
          <a:xfrm>
            <a:off x="4520184" y="1700784"/>
            <a:ext cx="3148584" cy="548640"/>
          </a:xfrm>
          <a:prstGeom prst="rect">
            <a:avLst/>
          </a:prstGeom>
          <a:noFill/>
          <a:ln/>
        </p:spPr>
        <p:txBody>
          <a:bodyPr wrap="square" lIns="0" tIns="0" rIns="0" bIns="0" rtlCol="0" anchor="ctr"/>
          <a:lstStyle/>
          <a:p>
            <a:pPr indent="0" marL="0">
              <a:buNone/>
            </a:pPr>
            <a:r>
              <a:rPr lang="en-US" sz="1250" b="1" dirty="0">
                <a:solidFill>
                  <a:srgbClr val="16324F"/>
                </a:solidFill>
                <a:latin typeface="Calibri" pitchFamily="34" charset="0"/>
                <a:ea typeface="Calibri" pitchFamily="34" charset="-122"/>
                <a:cs typeface="Calibri" pitchFamily="34" charset="-120"/>
              </a:rPr>
              <a:t>HARDENING — Addendum A (draft)</a:t>
            </a:r>
            <a:endParaRPr lang="en-US" sz="1250" dirty="0"/>
          </a:p>
        </p:txBody>
      </p:sp>
      <p:sp>
        <p:nvSpPr>
          <p:cNvPr id="9" name="Text 7"/>
          <p:cNvSpPr/>
          <p:nvPr/>
        </p:nvSpPr>
        <p:spPr>
          <a:xfrm>
            <a:off x="4520184" y="2286000"/>
            <a:ext cx="3148584" cy="3566160"/>
          </a:xfrm>
          <a:prstGeom prst="rect">
            <a:avLst/>
          </a:prstGeom>
          <a:noFill/>
          <a:ln/>
        </p:spPr>
        <p:txBody>
          <a:bodyPr wrap="square" lIns="0" tIns="0" rIns="0" bIns="0" rtlCol="0" anchor="t"/>
          <a:lstStyle/>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Deterministic escalation-phrase detection; LLM rater fallback only</a:t>
            </a:r>
            <a:endParaRPr lang="en-US" sz="1080" dirty="0"/>
          </a:p>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Gwet AC1 primary (≥ 0.75 promotion threshold)</a:t>
            </a:r>
            <a:endParaRPr lang="en-US" sz="1080" dirty="0"/>
          </a:p>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Triplicate runs; majority call + instability metric</a:t>
            </a:r>
            <a:endParaRPr lang="en-US" sz="1080" dirty="0"/>
          </a:p>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TRIPOD-LLM reporting; universal-referral rate per configuration</a:t>
            </a:r>
            <a:endParaRPr lang="en-US" sz="1080" dirty="0"/>
          </a:p>
        </p:txBody>
      </p:sp>
      <p:sp>
        <p:nvSpPr>
          <p:cNvPr id="10" name="Shape 8"/>
          <p:cNvSpPr/>
          <p:nvPr/>
        </p:nvSpPr>
        <p:spPr>
          <a:xfrm>
            <a:off x="8125968" y="1554480"/>
            <a:ext cx="3514344" cy="4434840"/>
          </a:xfrm>
          <a:prstGeom prst="roundRect">
            <a:avLst>
              <a:gd name="adj" fmla="val 2082"/>
            </a:avLst>
          </a:prstGeom>
          <a:solidFill>
            <a:srgbClr val="E2F0EC"/>
          </a:solidFill>
          <a:ln w="9525">
            <a:solidFill>
              <a:srgbClr val="D3DEE8"/>
            </a:solidFill>
            <a:prstDash val="solid"/>
          </a:ln>
        </p:spPr>
      </p:sp>
      <p:sp>
        <p:nvSpPr>
          <p:cNvPr id="11" name="Text 9"/>
          <p:cNvSpPr/>
          <p:nvPr/>
        </p:nvSpPr>
        <p:spPr>
          <a:xfrm>
            <a:off x="8308848" y="1700784"/>
            <a:ext cx="3148584" cy="548640"/>
          </a:xfrm>
          <a:prstGeom prst="rect">
            <a:avLst/>
          </a:prstGeom>
          <a:noFill/>
          <a:ln/>
        </p:spPr>
        <p:txBody>
          <a:bodyPr wrap="square" lIns="0" tIns="0" rIns="0" bIns="0" rtlCol="0" anchor="ctr"/>
          <a:lstStyle/>
          <a:p>
            <a:pPr indent="0" marL="0">
              <a:buNone/>
            </a:pPr>
            <a:r>
              <a:rPr lang="en-US" sz="1250" b="1" dirty="0">
                <a:solidFill>
                  <a:srgbClr val="0E7C66"/>
                </a:solidFill>
                <a:latin typeface="Calibri" pitchFamily="34" charset="0"/>
                <a:ea typeface="Calibri" pitchFamily="34" charset="-122"/>
                <a:cs typeface="Calibri" pitchFamily="34" charset="-120"/>
              </a:rPr>
              <a:t>PROPOSED THIS CYCLE — pending PI sign-off</a:t>
            </a:r>
            <a:endParaRPr lang="en-US" sz="1250" dirty="0"/>
          </a:p>
        </p:txBody>
      </p:sp>
      <p:sp>
        <p:nvSpPr>
          <p:cNvPr id="12" name="Text 10"/>
          <p:cNvSpPr/>
          <p:nvPr/>
        </p:nvSpPr>
        <p:spPr>
          <a:xfrm>
            <a:off x="8308848" y="2286000"/>
            <a:ext cx="3148584" cy="3566160"/>
          </a:xfrm>
          <a:prstGeom prst="rect">
            <a:avLst/>
          </a:prstGeom>
          <a:noFill/>
          <a:ln/>
        </p:spPr>
        <p:txBody>
          <a:bodyPr wrap="square" lIns="0" tIns="0" rIns="0" bIns="0" rtlCol="0" anchor="t"/>
          <a:lstStyle/>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Adopt Change 12 (bias-cue matched pairs): Ramaswamy OR 11.7 confirms the conversational locus; note-embedded locus unexamined; power gated on pilot discordance</a:t>
            </a:r>
            <a:endParaRPr lang="en-US" sz="1080" dirty="0"/>
          </a:p>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Agent-judge ensemble validation sub-study (NOHARM acceptance logic)</a:t>
            </a:r>
            <a:endParaRPr lang="en-US" sz="1080" dirty="0"/>
          </a:p>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Severity-unanimity rule; RAND/UCLA + WHO harm anchor</a:t>
            </a:r>
            <a:endParaRPr lang="en-US" sz="1080" dirty="0"/>
          </a:p>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Floor/ceiling reference policies (never- vs always-escalate)</a:t>
            </a:r>
            <a:endParaRPr lang="en-US" sz="1080" dirty="0"/>
          </a:p>
          <a:p>
            <a:pPr marL="342900" indent="-342900">
              <a:spcAft>
                <a:spcPts val="700"/>
              </a:spcAft>
              <a:buSzPct val="100000"/>
              <a:buChar char="•"/>
            </a:pPr>
            <a:r>
              <a:rPr lang="en-US" sz="1080" dirty="0">
                <a:solidFill>
                  <a:srgbClr val="1C2833"/>
                </a:solidFill>
                <a:latin typeface="Calibri" pitchFamily="34" charset="0"/>
                <a:ea typeface="Calibri" pitchFamily="34" charset="-122"/>
                <a:cs typeface="Calibri" pitchFamily="34" charset="-120"/>
              </a:rPr>
              <a:t>Crisis-safeguard consistency metric (exploratory)</a:t>
            </a:r>
            <a:endParaRPr lang="en-US" sz="1080" dirty="0"/>
          </a:p>
        </p:txBody>
      </p:sp>
      <p:sp>
        <p:nvSpPr>
          <p:cNvPr id="13" name="Text 11"/>
          <p:cNvSpPr/>
          <p:nvPr/>
        </p:nvSpPr>
        <p:spPr>
          <a:xfrm>
            <a:off x="548640" y="6419088"/>
            <a:ext cx="11091672" cy="310896"/>
          </a:xfrm>
          <a:prstGeom prst="rect">
            <a:avLst/>
          </a:prstGeom>
          <a:noFill/>
          <a:ln/>
        </p:spPr>
        <p:txBody>
          <a:bodyPr wrap="square" lIns="0" tIns="0" rIns="0" bIns="0" rtlCol="0" anchor="ctr"/>
          <a:lstStyle/>
          <a:p>
            <a:pPr indent="0" marL="0">
              <a:buNone/>
            </a:pPr>
            <a:r>
              <a:rPr lang="en-US" sz="950" dirty="0">
                <a:solidFill>
                  <a:srgbClr val="5D6D7A"/>
                </a:solidFill>
                <a:latin typeface="Calibri" pitchFamily="34" charset="0"/>
                <a:ea typeface="Calibri" pitchFamily="34" charset="-122"/>
                <a:cs typeface="Calibri" pitchFamily="34" charset="-120"/>
              </a:rPr>
              <a:t>Addendum A and this-cycle items are NOT yet in the IRB submission. Scenario authors will be told before drafting whether Change 12 is adopted. No power figures for cue analyses until pilot discordance data exist.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1672" cy="274320"/>
          </a:xfrm>
          <a:prstGeom prst="rect">
            <a:avLst/>
          </a:prstGeom>
          <a:noFill/>
          <a:ln/>
        </p:spPr>
        <p:txBody>
          <a:bodyPr wrap="square" lIns="0" tIns="0" rIns="0" bIns="0" rtlCol="0" anchor="ctr"/>
          <a:lstStyle/>
          <a:p>
            <a:pPr indent="0" marL="0">
              <a:buNone/>
            </a:pPr>
            <a:r>
              <a:rPr lang="en-US" sz="1150" b="1" spc="200" kern="0" dirty="0">
                <a:solidFill>
                  <a:srgbClr val="0E7C66"/>
                </a:solidFill>
                <a:latin typeface="Calibri" pitchFamily="34" charset="0"/>
                <a:ea typeface="Calibri" pitchFamily="34" charset="-122"/>
                <a:cs typeface="Calibri" pitchFamily="34" charset="-120"/>
              </a:rPr>
              <a:t>PART V · SLIDE F</a:t>
            </a:r>
            <a:endParaRPr lang="en-US" sz="1150" dirty="0"/>
          </a:p>
        </p:txBody>
      </p:sp>
      <p:sp>
        <p:nvSpPr>
          <p:cNvPr id="3" name="Text 1"/>
          <p:cNvSpPr/>
          <p:nvPr/>
        </p:nvSpPr>
        <p:spPr>
          <a:xfrm>
            <a:off x="548640" y="530352"/>
            <a:ext cx="11091672" cy="914400"/>
          </a:xfrm>
          <a:prstGeom prst="rect">
            <a:avLst/>
          </a:prstGeom>
          <a:noFill/>
          <a:ln/>
        </p:spPr>
        <p:txBody>
          <a:bodyPr wrap="square" lIns="0" tIns="0" rIns="0" bIns="0" rtlCol="0" anchor="t"/>
          <a:lstStyle/>
          <a:p>
            <a:pPr indent="0" marL="0">
              <a:buNone/>
            </a:pPr>
            <a:r>
              <a:rPr lang="en-US" sz="2700" b="1" dirty="0">
                <a:solidFill>
                  <a:srgbClr val="16324F"/>
                </a:solidFill>
                <a:latin typeface="Cambria" pitchFamily="34" charset="0"/>
                <a:ea typeface="Cambria" pitchFamily="34" charset="-122"/>
                <a:cs typeface="Cambria" pitchFamily="34" charset="-120"/>
              </a:rPr>
              <a:t>The 2026 benchmark landscape has one open slot</a:t>
            </a:r>
            <a:endParaRPr lang="en-US" sz="2700" dirty="0"/>
          </a:p>
        </p:txBody>
      </p:sp>
      <p:sp>
        <p:nvSpPr>
          <p:cNvPr id="4" name="Shape 2"/>
          <p:cNvSpPr/>
          <p:nvPr/>
        </p:nvSpPr>
        <p:spPr>
          <a:xfrm>
            <a:off x="548640" y="1600200"/>
            <a:ext cx="3514344" cy="3291840"/>
          </a:xfrm>
          <a:prstGeom prst="roundRect">
            <a:avLst>
              <a:gd name="adj" fmla="val 2222"/>
            </a:avLst>
          </a:prstGeom>
          <a:solidFill>
            <a:srgbClr val="EEF3F8"/>
          </a:solidFill>
          <a:ln w="9525">
            <a:solidFill>
              <a:srgbClr val="D3DEE8"/>
            </a:solidFill>
            <a:prstDash val="solid"/>
          </a:ln>
        </p:spPr>
      </p:sp>
      <p:sp>
        <p:nvSpPr>
          <p:cNvPr id="5" name="Text 3"/>
          <p:cNvSpPr/>
          <p:nvPr/>
        </p:nvSpPr>
        <p:spPr>
          <a:xfrm>
            <a:off x="749808" y="1783080"/>
            <a:ext cx="3112008" cy="365760"/>
          </a:xfrm>
          <a:prstGeom prst="rect">
            <a:avLst/>
          </a:prstGeom>
          <a:noFill/>
          <a:ln/>
        </p:spPr>
        <p:txBody>
          <a:bodyPr wrap="square" lIns="0" tIns="0" rIns="0" bIns="0" rtlCol="0" anchor="ctr"/>
          <a:lstStyle/>
          <a:p>
            <a:pPr indent="0" marL="0">
              <a:buNone/>
            </a:pPr>
            <a:r>
              <a:rPr lang="en-US" sz="1800" b="1" dirty="0">
                <a:solidFill>
                  <a:srgbClr val="16324F"/>
                </a:solidFill>
                <a:latin typeface="Cambria" pitchFamily="34" charset="0"/>
                <a:ea typeface="Cambria" pitchFamily="34" charset="-122"/>
                <a:cs typeface="Cambria" pitchFamily="34" charset="-120"/>
              </a:rPr>
              <a:t>NOHARM</a:t>
            </a:r>
            <a:endParaRPr lang="en-US" sz="1800" dirty="0"/>
          </a:p>
        </p:txBody>
      </p:sp>
      <p:sp>
        <p:nvSpPr>
          <p:cNvPr id="6" name="Text 4"/>
          <p:cNvSpPr/>
          <p:nvPr/>
        </p:nvSpPr>
        <p:spPr>
          <a:xfrm>
            <a:off x="749808" y="2176272"/>
            <a:ext cx="3112008" cy="274320"/>
          </a:xfrm>
          <a:prstGeom prst="rect">
            <a:avLst/>
          </a:prstGeom>
          <a:noFill/>
          <a:ln/>
        </p:spPr>
        <p:txBody>
          <a:bodyPr wrap="square" lIns="0" tIns="0" rIns="0" bIns="0" rtlCol="0" anchor="ctr"/>
          <a:lstStyle/>
          <a:p>
            <a:pPr indent="0" marL="0">
              <a:buNone/>
            </a:pPr>
            <a:r>
              <a:rPr lang="en-US" sz="1050" i="1" dirty="0">
                <a:solidFill>
                  <a:srgbClr val="5D6D7A"/>
                </a:solidFill>
                <a:latin typeface="Calibri" pitchFamily="34" charset="0"/>
                <a:ea typeface="Calibri" pitchFamily="34" charset="-122"/>
                <a:cs typeface="Calibri" pitchFamily="34" charset="-120"/>
              </a:rPr>
              <a:t>Stanford / BIDMC · arXiv preprint</a:t>
            </a:r>
            <a:endParaRPr lang="en-US" sz="1050" dirty="0"/>
          </a:p>
        </p:txBody>
      </p:sp>
      <p:sp>
        <p:nvSpPr>
          <p:cNvPr id="7" name="Text 5"/>
          <p:cNvSpPr/>
          <p:nvPr/>
        </p:nvSpPr>
        <p:spPr>
          <a:xfrm>
            <a:off x="749808" y="2514600"/>
            <a:ext cx="3112008" cy="2240280"/>
          </a:xfrm>
          <a:prstGeom prst="rect">
            <a:avLst/>
          </a:prstGeom>
          <a:noFill/>
          <a:ln/>
        </p:spPr>
        <p:txBody>
          <a:bodyPr wrap="square" lIns="0" tIns="0" rIns="0" bIns="0" rtlCol="0" anchor="t"/>
          <a:lstStyle/>
          <a:p>
            <a:pPr indent="0" marL="0">
              <a:buNone/>
            </a:pPr>
            <a:r>
              <a:rPr lang="en-US" sz="1180" dirty="0">
                <a:solidFill>
                  <a:srgbClr val="1C2833"/>
                </a:solidFill>
                <a:latin typeface="Calibri" pitchFamily="34" charset="0"/>
                <a:ea typeface="Calibri" pitchFamily="34" charset="-122"/>
                <a:cs typeface="Calibri" pitchFamily="34" charset="-120"/>
              </a:rPr>
              <a:t>Clinician-facing consultation safety. eConsult-derived options, specialist harm rubric, omission-dominant errors, physician-AI teaming RCT.</a:t>
            </a:r>
            <a:endParaRPr lang="en-US" sz="1180" dirty="0"/>
          </a:p>
        </p:txBody>
      </p:sp>
      <p:sp>
        <p:nvSpPr>
          <p:cNvPr id="8" name="Shape 6"/>
          <p:cNvSpPr/>
          <p:nvPr/>
        </p:nvSpPr>
        <p:spPr>
          <a:xfrm>
            <a:off x="4337304" y="1600200"/>
            <a:ext cx="3514344" cy="3291840"/>
          </a:xfrm>
          <a:prstGeom prst="roundRect">
            <a:avLst>
              <a:gd name="adj" fmla="val 2222"/>
            </a:avLst>
          </a:prstGeom>
          <a:solidFill>
            <a:srgbClr val="EEF3F8"/>
          </a:solidFill>
          <a:ln w="9525">
            <a:solidFill>
              <a:srgbClr val="D3DEE8"/>
            </a:solidFill>
            <a:prstDash val="solid"/>
          </a:ln>
        </p:spPr>
      </p:sp>
      <p:sp>
        <p:nvSpPr>
          <p:cNvPr id="9" name="Text 7"/>
          <p:cNvSpPr/>
          <p:nvPr/>
        </p:nvSpPr>
        <p:spPr>
          <a:xfrm>
            <a:off x="4538472" y="1783080"/>
            <a:ext cx="3112008" cy="365760"/>
          </a:xfrm>
          <a:prstGeom prst="rect">
            <a:avLst/>
          </a:prstGeom>
          <a:noFill/>
          <a:ln/>
        </p:spPr>
        <p:txBody>
          <a:bodyPr wrap="square" lIns="0" tIns="0" rIns="0" bIns="0" rtlCol="0" anchor="ctr"/>
          <a:lstStyle/>
          <a:p>
            <a:pPr indent="0" marL="0">
              <a:buNone/>
            </a:pPr>
            <a:r>
              <a:rPr lang="en-US" sz="1800" b="1" dirty="0">
                <a:solidFill>
                  <a:srgbClr val="16324F"/>
                </a:solidFill>
                <a:latin typeface="Cambria" pitchFamily="34" charset="0"/>
                <a:ea typeface="Cambria" pitchFamily="34" charset="-122"/>
                <a:cs typeface="Cambria" pitchFamily="34" charset="-120"/>
              </a:rPr>
              <a:t>Ramaswamy et al.</a:t>
            </a:r>
            <a:endParaRPr lang="en-US" sz="1800" dirty="0"/>
          </a:p>
        </p:txBody>
      </p:sp>
      <p:sp>
        <p:nvSpPr>
          <p:cNvPr id="10" name="Text 8"/>
          <p:cNvSpPr/>
          <p:nvPr/>
        </p:nvSpPr>
        <p:spPr>
          <a:xfrm>
            <a:off x="4538472" y="2176272"/>
            <a:ext cx="3112008" cy="274320"/>
          </a:xfrm>
          <a:prstGeom prst="rect">
            <a:avLst/>
          </a:prstGeom>
          <a:noFill/>
          <a:ln/>
        </p:spPr>
        <p:txBody>
          <a:bodyPr wrap="square" lIns="0" tIns="0" rIns="0" bIns="0" rtlCol="0" anchor="ctr"/>
          <a:lstStyle/>
          <a:p>
            <a:pPr indent="0" marL="0">
              <a:buNone/>
            </a:pPr>
            <a:r>
              <a:rPr lang="en-US" sz="1050" i="1" dirty="0">
                <a:solidFill>
                  <a:srgbClr val="5D6D7A"/>
                </a:solidFill>
                <a:latin typeface="Calibri" pitchFamily="34" charset="0"/>
                <a:ea typeface="Calibri" pitchFamily="34" charset="-122"/>
                <a:cs typeface="Calibri" pitchFamily="34" charset="-120"/>
              </a:rPr>
              <a:t>Mount Sinai · Nature Medicine</a:t>
            </a:r>
            <a:endParaRPr lang="en-US" sz="1050" dirty="0"/>
          </a:p>
        </p:txBody>
      </p:sp>
      <p:sp>
        <p:nvSpPr>
          <p:cNvPr id="11" name="Text 9"/>
          <p:cNvSpPr/>
          <p:nvPr/>
        </p:nvSpPr>
        <p:spPr>
          <a:xfrm>
            <a:off x="4538472" y="2514600"/>
            <a:ext cx="3112008" cy="2240280"/>
          </a:xfrm>
          <a:prstGeom prst="rect">
            <a:avLst/>
          </a:prstGeom>
          <a:noFill/>
          <a:ln/>
        </p:spPr>
        <p:txBody>
          <a:bodyPr wrap="square" lIns="0" tIns="0" rIns="0" bIns="0" rtlCol="0" anchor="t"/>
          <a:lstStyle/>
          <a:p>
            <a:pPr indent="0" marL="0">
              <a:buNone/>
            </a:pPr>
            <a:r>
              <a:rPr lang="en-US" sz="1180" dirty="0">
                <a:solidFill>
                  <a:srgbClr val="1C2833"/>
                </a:solidFill>
                <a:latin typeface="Calibri" pitchFamily="34" charset="0"/>
                <a:ea typeface="Calibri" pitchFamily="34" charset="-122"/>
                <a:cs typeface="Calibri" pitchFamily="34" charset="-120"/>
              </a:rPr>
              <a:t>Consumer product stress test. Live ChatGPT Health, forced-choice elicitation — headline failure rate now contested as a format artifact.</a:t>
            </a:r>
            <a:endParaRPr lang="en-US" sz="1180" dirty="0"/>
          </a:p>
        </p:txBody>
      </p:sp>
      <p:sp>
        <p:nvSpPr>
          <p:cNvPr id="12" name="Shape 10"/>
          <p:cNvSpPr/>
          <p:nvPr/>
        </p:nvSpPr>
        <p:spPr>
          <a:xfrm>
            <a:off x="8125968" y="1600200"/>
            <a:ext cx="3514344" cy="3291840"/>
          </a:xfrm>
          <a:prstGeom prst="roundRect">
            <a:avLst>
              <a:gd name="adj" fmla="val 2222"/>
            </a:avLst>
          </a:prstGeom>
          <a:solidFill>
            <a:srgbClr val="0E7C66"/>
          </a:solidFill>
          <a:ln w="9525">
            <a:solidFill>
              <a:srgbClr val="0E7C66"/>
            </a:solidFill>
            <a:prstDash val="solid"/>
          </a:ln>
        </p:spPr>
      </p:sp>
      <p:sp>
        <p:nvSpPr>
          <p:cNvPr id="13" name="Text 11"/>
          <p:cNvSpPr/>
          <p:nvPr/>
        </p:nvSpPr>
        <p:spPr>
          <a:xfrm>
            <a:off x="8327136" y="1783080"/>
            <a:ext cx="3112008"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This trial</a:t>
            </a:r>
            <a:endParaRPr lang="en-US" sz="1800" dirty="0"/>
          </a:p>
        </p:txBody>
      </p:sp>
      <p:sp>
        <p:nvSpPr>
          <p:cNvPr id="14" name="Text 12"/>
          <p:cNvSpPr/>
          <p:nvPr/>
        </p:nvSpPr>
        <p:spPr>
          <a:xfrm>
            <a:off x="8327136" y="2176272"/>
            <a:ext cx="3112008" cy="274320"/>
          </a:xfrm>
          <a:prstGeom prst="rect">
            <a:avLst/>
          </a:prstGeom>
          <a:noFill/>
          <a:ln/>
        </p:spPr>
        <p:txBody>
          <a:bodyPr wrap="square" lIns="0" tIns="0" rIns="0" bIns="0" rtlCol="0" anchor="ctr"/>
          <a:lstStyle/>
          <a:p>
            <a:pPr indent="0" marL="0">
              <a:buNone/>
            </a:pPr>
            <a:r>
              <a:rPr lang="en-US" sz="1050" i="1" dirty="0">
                <a:solidFill>
                  <a:srgbClr val="CFE9E1"/>
                </a:solidFill>
                <a:latin typeface="Calibri" pitchFamily="34" charset="0"/>
                <a:ea typeface="Calibri" pitchFamily="34" charset="-122"/>
                <a:cs typeface="Calibri" pitchFamily="34" charset="-120"/>
              </a:rPr>
              <a:t>Cedars-Sinai · in design</a:t>
            </a:r>
            <a:endParaRPr lang="en-US" sz="1050" dirty="0"/>
          </a:p>
        </p:txBody>
      </p:sp>
      <p:sp>
        <p:nvSpPr>
          <p:cNvPr id="15" name="Text 13"/>
          <p:cNvSpPr/>
          <p:nvPr/>
        </p:nvSpPr>
        <p:spPr>
          <a:xfrm>
            <a:off x="8327136" y="2514600"/>
            <a:ext cx="3112008" cy="2240280"/>
          </a:xfrm>
          <a:prstGeom prst="rect">
            <a:avLst/>
          </a:prstGeom>
          <a:noFill/>
          <a:ln/>
        </p:spPr>
        <p:txBody>
          <a:bodyPr wrap="square" lIns="0" tIns="0" rIns="0" bIns="0" rtlCol="0" anchor="t"/>
          <a:lstStyle/>
          <a:p>
            <a:pPr indent="0" marL="0">
              <a:buNone/>
            </a:pPr>
            <a:r>
              <a:rPr lang="en-US" sz="1180" dirty="0">
                <a:solidFill>
                  <a:srgbClr val="FFFFFF"/>
                </a:solidFill>
                <a:latin typeface="Calibri" pitchFamily="34" charset="0"/>
                <a:ea typeface="Calibri" pitchFamily="34" charset="-122"/>
                <a:cs typeface="Calibri" pitchFamily="34" charset="-120"/>
              </a:rPr>
              <a:t>Consumer disposition safety standard. Independent EM-physician benchmark, dual register, free-response scoring, severity weights, interaction arm — reusable as models change.</a:t>
            </a:r>
            <a:endParaRPr lang="en-US" sz="1180" dirty="0"/>
          </a:p>
        </p:txBody>
      </p:sp>
      <p:sp>
        <p:nvSpPr>
          <p:cNvPr id="16" name="Text 14"/>
          <p:cNvSpPr/>
          <p:nvPr/>
        </p:nvSpPr>
        <p:spPr>
          <a:xfrm>
            <a:off x="548640" y="5166360"/>
            <a:ext cx="11091672" cy="868680"/>
          </a:xfrm>
          <a:prstGeom prst="rect">
            <a:avLst/>
          </a:prstGeom>
          <a:noFill/>
          <a:ln/>
        </p:spPr>
        <p:txBody>
          <a:bodyPr wrap="square" lIns="0" tIns="0" rIns="0" bIns="0" rtlCol="0" anchor="ctr"/>
          <a:lstStyle/>
          <a:p>
            <a:pPr algn="ctr" indent="0" marL="0">
              <a:buNone/>
            </a:pPr>
            <a:r>
              <a:rPr lang="en-US" sz="1600" dirty="0">
                <a:solidFill>
                  <a:srgbClr val="5D6D7A"/>
                </a:solidFill>
                <a:latin typeface="Cambria" pitchFamily="34" charset="0"/>
                <a:ea typeface="Cambria" pitchFamily="34" charset="-122"/>
                <a:cs typeface="Cambria" pitchFamily="34" charset="-120"/>
              </a:rPr>
              <a:t>Mount Sinai showed the failure. Macquarie showed the measurement problem. Stanford covered the clinician side.
</a:t>
            </a:r>
            <a:pPr algn="ctr" indent="0" marL="0">
              <a:buNone/>
            </a:pPr>
            <a:r>
              <a:rPr lang="en-US" sz="1600" b="1" dirty="0">
                <a:solidFill>
                  <a:srgbClr val="16324F"/>
                </a:solidFill>
                <a:latin typeface="Cambria" pitchFamily="34" charset="0"/>
                <a:ea typeface="Cambria" pitchFamily="34" charset="-122"/>
                <a:cs typeface="Cambria" pitchFamily="34" charset="-120"/>
              </a:rPr>
              <a:t>The consumer-disposition standard is unclaimed — that is this study, and Cedars-Sinai can own it.</a:t>
            </a:r>
            <a:endParaRPr lang="en-US" sz="1600" dirty="0"/>
          </a:p>
        </p:txBody>
      </p:sp>
      <p:sp>
        <p:nvSpPr>
          <p:cNvPr id="17" name="Text 15"/>
          <p:cNvSpPr/>
          <p:nvPr/>
        </p:nvSpPr>
        <p:spPr>
          <a:xfrm>
            <a:off x="548640" y="6419088"/>
            <a:ext cx="11091672" cy="310896"/>
          </a:xfrm>
          <a:prstGeom prst="rect">
            <a:avLst/>
          </a:prstGeom>
          <a:noFill/>
          <a:ln/>
        </p:spPr>
        <p:txBody>
          <a:bodyPr wrap="square" lIns="0" tIns="0" rIns="0" bIns="0" rtlCol="0" anchor="ctr"/>
          <a:lstStyle/>
          <a:p>
            <a:pPr indent="0" marL="0">
              <a:buNone/>
            </a:pPr>
            <a:r>
              <a:rPr lang="en-US" sz="950" dirty="0">
                <a:solidFill>
                  <a:srgbClr val="5D6D7A"/>
                </a:solidFill>
                <a:latin typeface="Calibri" pitchFamily="34" charset="0"/>
                <a:ea typeface="Calibri" pitchFamily="34" charset="-122"/>
                <a:cs typeface="Calibri" pitchFamily="34" charset="-120"/>
              </a:rPr>
              <a:t>Positioning: complementary constructs, no overlap in the consumer-disposition slot. Preprints labeled; primacy claims avoided per citation-integrity policy.</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2026-08-05T14:50:16Z</dcterms:created>
  <dcterms:modified xsi:type="dcterms:W3CDTF">2026-08-05T14:50:16Z</dcterms:modified>
</cp:coreProperties>
</file>